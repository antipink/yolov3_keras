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4237" r:id="rId2"/>
    <p:sldMasterId id="2147484249" r:id="rId3"/>
    <p:sldMasterId id="2147484257" r:id="rId4"/>
  </p:sldMasterIdLst>
  <p:notesMasterIdLst>
    <p:notesMasterId r:id="rId48"/>
  </p:notesMasterIdLst>
  <p:handoutMasterIdLst>
    <p:handoutMasterId r:id="rId49"/>
  </p:handoutMasterIdLst>
  <p:sldIdLst>
    <p:sldId id="2322" r:id="rId5"/>
    <p:sldId id="2323" r:id="rId6"/>
    <p:sldId id="2383" r:id="rId7"/>
    <p:sldId id="2385" r:id="rId8"/>
    <p:sldId id="2384" r:id="rId9"/>
    <p:sldId id="2427" r:id="rId10"/>
    <p:sldId id="2414" r:id="rId11"/>
    <p:sldId id="2437" r:id="rId12"/>
    <p:sldId id="2454" r:id="rId13"/>
    <p:sldId id="2441" r:id="rId14"/>
    <p:sldId id="2443" r:id="rId15"/>
    <p:sldId id="2445" r:id="rId16"/>
    <p:sldId id="2481" r:id="rId17"/>
    <p:sldId id="2480" r:id="rId18"/>
    <p:sldId id="2477" r:id="rId19"/>
    <p:sldId id="2457" r:id="rId20"/>
    <p:sldId id="2369" r:id="rId21"/>
    <p:sldId id="2476" r:id="rId22"/>
    <p:sldId id="2475" r:id="rId23"/>
    <p:sldId id="2380" r:id="rId24"/>
    <p:sldId id="2461" r:id="rId25"/>
    <p:sldId id="2462" r:id="rId26"/>
    <p:sldId id="2463" r:id="rId27"/>
    <p:sldId id="2464" r:id="rId28"/>
    <p:sldId id="2465" r:id="rId29"/>
    <p:sldId id="2466" r:id="rId30"/>
    <p:sldId id="2467" r:id="rId31"/>
    <p:sldId id="2458" r:id="rId32"/>
    <p:sldId id="2468" r:id="rId33"/>
    <p:sldId id="2469" r:id="rId34"/>
    <p:sldId id="2470" r:id="rId35"/>
    <p:sldId id="2471" r:id="rId36"/>
    <p:sldId id="2472" r:id="rId37"/>
    <p:sldId id="2459" r:id="rId38"/>
    <p:sldId id="2460" r:id="rId39"/>
    <p:sldId id="2387" r:id="rId40"/>
    <p:sldId id="2415" r:id="rId41"/>
    <p:sldId id="2479" r:id="rId42"/>
    <p:sldId id="2403" r:id="rId43"/>
    <p:sldId id="2404" r:id="rId44"/>
    <p:sldId id="2405" r:id="rId45"/>
    <p:sldId id="2429" r:id="rId46"/>
    <p:sldId id="2482" r:id="rId47"/>
  </p:sldIdLst>
  <p:sldSz cx="12188825" cy="6858000"/>
  <p:notesSz cx="6794500" cy="9931400"/>
  <p:defaultTextStyle>
    <a:defPPr>
      <a:defRPr lang="en-US"/>
    </a:defPPr>
    <a:lvl1pPr marL="0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97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96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93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90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989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986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984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982" algn="l" defTabSz="9139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7" pos="3263" userDrawn="1">
          <p15:clr>
            <a:srgbClr val="A4A3A4"/>
          </p15:clr>
        </p15:guide>
        <p15:guide id="18" orient="horz" pos="21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08E"/>
    <a:srgbClr val="008000"/>
    <a:srgbClr val="7F7F7F"/>
    <a:srgbClr val="159C49"/>
    <a:srgbClr val="2E6840"/>
    <a:srgbClr val="8AD2A6"/>
    <a:srgbClr val="96D4AE"/>
    <a:srgbClr val="16A54E"/>
    <a:srgbClr val="BFCC3F"/>
    <a:srgbClr val="D3E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6469" autoAdjust="0"/>
  </p:normalViewPr>
  <p:slideViewPr>
    <p:cSldViewPr snapToGrid="0" snapToObjects="1">
      <p:cViewPr>
        <p:scale>
          <a:sx n="69" d="100"/>
          <a:sy n="69" d="100"/>
        </p:scale>
        <p:origin x="712" y="44"/>
      </p:cViewPr>
      <p:guideLst>
        <p:guide pos="3263"/>
        <p:guide orient="horz" pos="2136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55" d="100"/>
        <a:sy n="155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257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esktop\Stage%202%20Work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esktop\Stage%202%20Workboo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esktop\Stage%202%20Workbook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esktop\Stage%202%20Workbook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esktop\Stage%202%20Workbook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esktop\Stage%202%20Workbook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esktop\Stage%202%20Workbook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kkremn\Box%20Sync\P&amp;O%20Ferries\P&amp;O%20Ferries%20MTA\P&amp;O%20Presentation%20Dec%202017%20-%20JK\P&amp;O%20Presentation%20Dec%202017%20-%20JK%20-%20working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innes\Downloads\Analytics%20Production%20-%20Raw%20roll%20up%20Overview%2020171007-20171105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Sheet1!$F$4:$F$8</c:f>
              <c:numCache>
                <c:formatCode>0%</c:formatCode>
                <c:ptCount val="5"/>
                <c:pt idx="0">
                  <c:v>0.2</c:v>
                </c:pt>
                <c:pt idx="1">
                  <c:v>0.5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1D-4D8F-90B1-54B17AF7A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7"/>
        <c:overlap val="-27"/>
        <c:axId val="241216784"/>
        <c:axId val="149159296"/>
      </c:barChart>
      <c:catAx>
        <c:axId val="241216784"/>
        <c:scaling>
          <c:orientation val="minMax"/>
        </c:scaling>
        <c:delete val="1"/>
        <c:axPos val="b"/>
        <c:majorTickMark val="none"/>
        <c:minorTickMark val="none"/>
        <c:tickLblPos val="nextTo"/>
        <c:crossAx val="149159296"/>
        <c:crosses val="autoZero"/>
        <c:auto val="1"/>
        <c:lblAlgn val="ctr"/>
        <c:lblOffset val="100"/>
        <c:noMultiLvlLbl val="0"/>
      </c:catAx>
      <c:valAx>
        <c:axId val="1491592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241216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 smtClean="0"/>
              <a:t>UK</a:t>
            </a:r>
            <a:r>
              <a:rPr lang="en-GB" baseline="0" dirty="0" smtClean="0"/>
              <a:t> Conversions MTA vs LTA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WP!$C$1</c:f>
              <c:strCache>
                <c:ptCount val="1"/>
                <c:pt idx="0">
                  <c:v>LTA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WP!$B$2:$B$7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WP!$C$2:$C$7</c:f>
              <c:numCache>
                <c:formatCode>#,##0</c:formatCode>
                <c:ptCount val="6"/>
                <c:pt idx="0">
                  <c:v>19301</c:v>
                </c:pt>
                <c:pt idx="1">
                  <c:v>11848</c:v>
                </c:pt>
                <c:pt idx="2">
                  <c:v>57137</c:v>
                </c:pt>
                <c:pt idx="3" formatCode="General">
                  <c:v>5</c:v>
                </c:pt>
                <c:pt idx="4">
                  <c:v>2477</c:v>
                </c:pt>
                <c:pt idx="5">
                  <c:v>9643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B0-40AD-91A3-E27361451E3F}"/>
            </c:ext>
          </c:extLst>
        </c:ser>
        <c:ser>
          <c:idx val="1"/>
          <c:order val="1"/>
          <c:tx>
            <c:strRef>
              <c:f>WP!$D$1</c:f>
              <c:strCache>
                <c:ptCount val="1"/>
                <c:pt idx="0">
                  <c:v>MTA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WP!$B$2:$B$7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WP!$D$2:$D$7</c:f>
              <c:numCache>
                <c:formatCode>#,##0</c:formatCode>
                <c:ptCount val="6"/>
                <c:pt idx="0">
                  <c:v>14958</c:v>
                </c:pt>
                <c:pt idx="1">
                  <c:v>22558</c:v>
                </c:pt>
                <c:pt idx="2">
                  <c:v>52492</c:v>
                </c:pt>
                <c:pt idx="3" formatCode="General">
                  <c:v>10</c:v>
                </c:pt>
                <c:pt idx="4">
                  <c:v>1895</c:v>
                </c:pt>
                <c:pt idx="5">
                  <c:v>7660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B0-40AD-91A3-E27361451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9807664"/>
        <c:axId val="599807008"/>
      </c:barChart>
      <c:catAx>
        <c:axId val="59980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9807008"/>
        <c:crosses val="autoZero"/>
        <c:auto val="1"/>
        <c:lblAlgn val="ctr"/>
        <c:lblOffset val="100"/>
        <c:noMultiLvlLbl val="0"/>
      </c:catAx>
      <c:valAx>
        <c:axId val="59980700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9807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 smtClean="0"/>
              <a:t>Euro</a:t>
            </a:r>
            <a:r>
              <a:rPr lang="en-GB" baseline="0" dirty="0" smtClean="0"/>
              <a:t> Conversions MTA vs LTA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WP!$C$13</c:f>
              <c:strCache>
                <c:ptCount val="1"/>
                <c:pt idx="0">
                  <c:v>LTA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WP!$B$14:$B$19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WP!$C$14:$C$19</c:f>
              <c:numCache>
                <c:formatCode>#,##0</c:formatCode>
                <c:ptCount val="6"/>
                <c:pt idx="0">
                  <c:v>1666</c:v>
                </c:pt>
                <c:pt idx="1">
                  <c:v>5256</c:v>
                </c:pt>
                <c:pt idx="2">
                  <c:v>13492</c:v>
                </c:pt>
                <c:pt idx="3" formatCode="General">
                  <c:v>13</c:v>
                </c:pt>
                <c:pt idx="4" formatCode="General">
                  <c:v>115</c:v>
                </c:pt>
                <c:pt idx="5">
                  <c:v>2792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B7-4417-B083-1DD127F5A396}"/>
            </c:ext>
          </c:extLst>
        </c:ser>
        <c:ser>
          <c:idx val="1"/>
          <c:order val="1"/>
          <c:tx>
            <c:strRef>
              <c:f>WP!$D$13</c:f>
              <c:strCache>
                <c:ptCount val="1"/>
                <c:pt idx="0">
                  <c:v>MTA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WP!$B$14:$B$19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WP!$D$14:$D$19</c:f>
              <c:numCache>
                <c:formatCode>#,##0</c:formatCode>
                <c:ptCount val="6"/>
                <c:pt idx="0">
                  <c:v>1203</c:v>
                </c:pt>
                <c:pt idx="1">
                  <c:v>8087</c:v>
                </c:pt>
                <c:pt idx="2">
                  <c:v>12814</c:v>
                </c:pt>
                <c:pt idx="3" formatCode="General">
                  <c:v>26</c:v>
                </c:pt>
                <c:pt idx="4" formatCode="General">
                  <c:v>97</c:v>
                </c:pt>
                <c:pt idx="5">
                  <c:v>1894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B7-4417-B083-1DD127F5A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8479576"/>
        <c:axId val="538477936"/>
      </c:barChart>
      <c:catAx>
        <c:axId val="538479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477936"/>
        <c:crosses val="autoZero"/>
        <c:auto val="1"/>
        <c:lblAlgn val="ctr"/>
        <c:lblOffset val="100"/>
        <c:noMultiLvlLbl val="0"/>
      </c:catAx>
      <c:valAx>
        <c:axId val="538477936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479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0404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baseline="0" dirty="0" smtClean="0">
                <a:effectLst/>
              </a:rPr>
              <a:t>UK Conversions MTA vs LTA</a:t>
            </a:r>
            <a:endParaRPr lang="en-US" sz="1100" dirty="0" smtClean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40404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'PP (2)'!$C$2</c:f>
              <c:strCache>
                <c:ptCount val="1"/>
                <c:pt idx="0">
                  <c:v>LTA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'PP (2)'!$B$3:$B$8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'PP (2)'!$C$3:$C$8</c:f>
              <c:numCache>
                <c:formatCode>#,##0</c:formatCode>
                <c:ptCount val="6"/>
                <c:pt idx="0">
                  <c:v>5491.1999999998525</c:v>
                </c:pt>
                <c:pt idx="1">
                  <c:v>1572.0000000000123</c:v>
                </c:pt>
                <c:pt idx="2">
                  <c:v>13599.599999999624</c:v>
                </c:pt>
                <c:pt idx="3">
                  <c:v>1.2</c:v>
                </c:pt>
                <c:pt idx="4">
                  <c:v>2476.8000000000502</c:v>
                </c:pt>
                <c:pt idx="5">
                  <c:v>9643.2000000002517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7A-4366-8873-F7C9678E8AE1}"/>
            </c:ext>
          </c:extLst>
        </c:ser>
        <c:ser>
          <c:idx val="1"/>
          <c:order val="1"/>
          <c:tx>
            <c:strRef>
              <c:f>'PP (2)'!$D$2</c:f>
              <c:strCache>
                <c:ptCount val="1"/>
                <c:pt idx="0">
                  <c:v>MTA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'PP (2)'!$B$3:$B$8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'PP (2)'!$D$3:$D$8</c:f>
              <c:numCache>
                <c:formatCode>#,##0</c:formatCode>
                <c:ptCount val="6"/>
                <c:pt idx="0">
                  <c:v>3846.208379657528</c:v>
                </c:pt>
                <c:pt idx="1">
                  <c:v>2857.6090319835571</c:v>
                </c:pt>
                <c:pt idx="2">
                  <c:v>12160.975357007097</c:v>
                </c:pt>
                <c:pt idx="3">
                  <c:v>2.9363621857218152</c:v>
                </c:pt>
                <c:pt idx="4">
                  <c:v>1895.0415357344866</c:v>
                </c:pt>
                <c:pt idx="5">
                  <c:v>7660.1436068048679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7A-4366-8873-F7C9678E8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7762464"/>
        <c:axId val="697765416"/>
      </c:barChart>
      <c:catAx>
        <c:axId val="697762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7765416"/>
        <c:crosses val="autoZero"/>
        <c:auto val="1"/>
        <c:lblAlgn val="ctr"/>
        <c:lblOffset val="100"/>
        <c:noMultiLvlLbl val="0"/>
      </c:catAx>
      <c:valAx>
        <c:axId val="697765416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7762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0404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baseline="0" dirty="0" smtClean="0">
                <a:effectLst/>
              </a:rPr>
              <a:t>Euro Conversions MTA vs LTA</a:t>
            </a:r>
            <a:endParaRPr lang="en-US" sz="1100" dirty="0" smtClean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40404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'PP (2)'!$C$14</c:f>
              <c:strCache>
                <c:ptCount val="1"/>
                <c:pt idx="0">
                  <c:v>LTA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'PP (2)'!$B$15:$B$20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'PP (2)'!$C$15:$C$20</c:f>
              <c:numCache>
                <c:formatCode>#,##0</c:formatCode>
                <c:ptCount val="6"/>
                <c:pt idx="0">
                  <c:v>472.79999999999865</c:v>
                </c:pt>
                <c:pt idx="1">
                  <c:v>849.59999999999684</c:v>
                </c:pt>
                <c:pt idx="2">
                  <c:v>3270.0000000000014</c:v>
                </c:pt>
                <c:pt idx="3">
                  <c:v>2.4</c:v>
                </c:pt>
                <c:pt idx="4">
                  <c:v>115.2</c:v>
                </c:pt>
                <c:pt idx="5">
                  <c:v>2792.399999999911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95-4078-BAE2-810E53CE26EE}"/>
            </c:ext>
          </c:extLst>
        </c:ser>
        <c:ser>
          <c:idx val="1"/>
          <c:order val="1"/>
          <c:tx>
            <c:strRef>
              <c:f>'PP (2)'!$D$14</c:f>
              <c:strCache>
                <c:ptCount val="1"/>
                <c:pt idx="0">
                  <c:v>MTA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'PP (2)'!$B$15:$B$20</c:f>
              <c:strCache>
                <c:ptCount val="6"/>
                <c:pt idx="0">
                  <c:v>Affiliate</c:v>
                </c:pt>
                <c:pt idx="1">
                  <c:v>Display</c:v>
                </c:pt>
                <c:pt idx="2">
                  <c:v>PPC</c:v>
                </c:pt>
                <c:pt idx="3">
                  <c:v>Social</c:v>
                </c:pt>
                <c:pt idx="4">
                  <c:v>Email</c:v>
                </c:pt>
                <c:pt idx="5">
                  <c:v>Natural Search</c:v>
                </c:pt>
              </c:strCache>
            </c:strRef>
          </c:cat>
          <c:val>
            <c:numRef>
              <c:f>'PP (2)'!$D$15:$D$20</c:f>
              <c:numCache>
                <c:formatCode>#,##0</c:formatCode>
                <c:ptCount val="6"/>
                <c:pt idx="0">
                  <c:v>325.42750031165076</c:v>
                </c:pt>
                <c:pt idx="1">
                  <c:v>1248.959847851899</c:v>
                </c:pt>
                <c:pt idx="2">
                  <c:v>3218.5467823403733</c:v>
                </c:pt>
                <c:pt idx="3">
                  <c:v>3.4100465746732698</c:v>
                </c:pt>
                <c:pt idx="4">
                  <c:v>97.397981079492624</c:v>
                </c:pt>
                <c:pt idx="5">
                  <c:v>1892.99346676969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95-4078-BAE2-810E53CE26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2098032"/>
        <c:axId val="542093440"/>
      </c:barChart>
      <c:catAx>
        <c:axId val="542098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2093440"/>
        <c:crosses val="autoZero"/>
        <c:auto val="1"/>
        <c:lblAlgn val="ctr"/>
        <c:lblOffset val="100"/>
        <c:noMultiLvlLbl val="0"/>
      </c:catAx>
      <c:valAx>
        <c:axId val="54209344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209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UK MTA Conversions for a</a:t>
            </a:r>
            <a:r>
              <a:rPr lang="en-US" baseline="0"/>
              <a:t> given spend*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'Cost Benifit'!$B$2</c:f>
              <c:strCache>
                <c:ptCount val="1"/>
                <c:pt idx="0">
                  <c:v>UK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48-4DD5-BB47-989180A404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'Cost Benifit'!$C$1:$D$1</c:f>
              <c:strCache>
                <c:ptCount val="2"/>
                <c:pt idx="0">
                  <c:v>Non-Optimised</c:v>
                </c:pt>
                <c:pt idx="1">
                  <c:v>Optimised</c:v>
                </c:pt>
              </c:strCache>
            </c:strRef>
          </c:cat>
          <c:val>
            <c:numRef>
              <c:f>'Cost Benifit'!$C$2:$D$2</c:f>
              <c:numCache>
                <c:formatCode>_-* #,##0_-;\-* #,##0_-;_-* "-"??_-;_-@_-</c:formatCode>
                <c:ptCount val="2"/>
                <c:pt idx="0">
                  <c:v>28423</c:v>
                </c:pt>
                <c:pt idx="1">
                  <c:v>31904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48-4DD5-BB47-989180A404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4558880"/>
        <c:axId val="544553304"/>
      </c:barChart>
      <c:catAx>
        <c:axId val="544558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4553304"/>
        <c:crosses val="autoZero"/>
        <c:auto val="1"/>
        <c:lblAlgn val="ctr"/>
        <c:lblOffset val="100"/>
        <c:noMultiLvlLbl val="0"/>
      </c:catAx>
      <c:valAx>
        <c:axId val="544553304"/>
        <c:scaling>
          <c:orientation val="minMax"/>
        </c:scaling>
        <c:delete val="0"/>
        <c:axPos val="l"/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4558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Euro MTA Conversions for a given</a:t>
            </a:r>
            <a:r>
              <a:rPr lang="en-US" baseline="0"/>
              <a:t> spend*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'Cost Benifit'!$C$1</c:f>
              <c:strCache>
                <c:ptCount val="1"/>
                <c:pt idx="0">
                  <c:v>Non-Optimised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'Cost Benifit'!$B$3:$B$6</c:f>
              <c:strCache>
                <c:ptCount val="4"/>
                <c:pt idx="0">
                  <c:v>France</c:v>
                </c:pt>
                <c:pt idx="1">
                  <c:v>Germany</c:v>
                </c:pt>
                <c:pt idx="2">
                  <c:v>Netherlands</c:v>
                </c:pt>
                <c:pt idx="3">
                  <c:v>Belgium</c:v>
                </c:pt>
              </c:strCache>
            </c:strRef>
          </c:cat>
          <c:val>
            <c:numRef>
              <c:f>'Cost Benifit'!$C$3:$C$6</c:f>
              <c:numCache>
                <c:formatCode>_-* #,##0_-;\-* #,##0_-;_-* "-"??_-;_-@_-</c:formatCode>
                <c:ptCount val="4"/>
                <c:pt idx="0">
                  <c:v>2818</c:v>
                </c:pt>
                <c:pt idx="1">
                  <c:v>1037</c:v>
                </c:pt>
                <c:pt idx="2">
                  <c:v>1681</c:v>
                </c:pt>
                <c:pt idx="3">
                  <c:v>1252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C6-4663-BDFC-58C4A34ACB52}"/>
            </c:ext>
          </c:extLst>
        </c:ser>
        <c:ser>
          <c:idx val="1"/>
          <c:order val="1"/>
          <c:tx>
            <c:strRef>
              <c:f>'Cost Benifit'!$D$1</c:f>
              <c:strCache>
                <c:ptCount val="1"/>
                <c:pt idx="0">
                  <c:v>Optimised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'Cost Benifit'!$B$3:$B$6</c:f>
              <c:strCache>
                <c:ptCount val="4"/>
                <c:pt idx="0">
                  <c:v>France</c:v>
                </c:pt>
                <c:pt idx="1">
                  <c:v>Germany</c:v>
                </c:pt>
                <c:pt idx="2">
                  <c:v>Netherlands</c:v>
                </c:pt>
                <c:pt idx="3">
                  <c:v>Belgium</c:v>
                </c:pt>
              </c:strCache>
            </c:strRef>
          </c:cat>
          <c:val>
            <c:numRef>
              <c:f>'Cost Benifit'!$D$3:$D$6</c:f>
              <c:numCache>
                <c:formatCode>_-* #,##0_-;\-* #,##0_-;_-* "-"??_-;_-@_-</c:formatCode>
                <c:ptCount val="4"/>
                <c:pt idx="0">
                  <c:v>3093</c:v>
                </c:pt>
                <c:pt idx="1">
                  <c:v>1130</c:v>
                </c:pt>
                <c:pt idx="2">
                  <c:v>1954</c:v>
                </c:pt>
                <c:pt idx="3">
                  <c:v>1530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C6-4663-BDFC-58C4A34ACB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3398440"/>
        <c:axId val="713399424"/>
      </c:barChart>
      <c:catAx>
        <c:axId val="713398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3399424"/>
        <c:crosses val="autoZero"/>
        <c:auto val="1"/>
        <c:lblAlgn val="ctr"/>
        <c:lblOffset val="100"/>
        <c:noMultiLvlLbl val="0"/>
      </c:catAx>
      <c:valAx>
        <c:axId val="713399424"/>
        <c:scaling>
          <c:orientation val="minMax"/>
        </c:scaling>
        <c:delete val="0"/>
        <c:axPos val="l"/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3398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% </a:t>
            </a:r>
            <a:r>
              <a:rPr lang="en-US" dirty="0" smtClean="0"/>
              <a:t>Gain from Spending Optimally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'Cost Benifit'!$E$1</c:f>
              <c:strCache>
                <c:ptCount val="1"/>
                <c:pt idx="0">
                  <c:v>% Gain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'Cost Benifit'!$B$2:$B$6</c:f>
              <c:strCache>
                <c:ptCount val="5"/>
                <c:pt idx="0">
                  <c:v>UK</c:v>
                </c:pt>
                <c:pt idx="1">
                  <c:v>France</c:v>
                </c:pt>
                <c:pt idx="2">
                  <c:v>Germany</c:v>
                </c:pt>
                <c:pt idx="3">
                  <c:v>Netherlands</c:v>
                </c:pt>
                <c:pt idx="4">
                  <c:v>Belgium</c:v>
                </c:pt>
              </c:strCache>
            </c:strRef>
          </c:cat>
          <c:val>
            <c:numRef>
              <c:f>'Cost Benifit'!$E$2:$E$6</c:f>
              <c:numCache>
                <c:formatCode>0%</c:formatCode>
                <c:ptCount val="5"/>
                <c:pt idx="0">
                  <c:v>0.12247123808183513</c:v>
                </c:pt>
                <c:pt idx="1">
                  <c:v>9.7586941092973722E-2</c:v>
                </c:pt>
                <c:pt idx="2">
                  <c:v>8.9681774349083865E-2</c:v>
                </c:pt>
                <c:pt idx="3">
                  <c:v>0.16240333135038676</c:v>
                </c:pt>
                <c:pt idx="4">
                  <c:v>0.22204472843450485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FC-4DFB-BB54-D2F14AE991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4249416"/>
        <c:axId val="544254664"/>
      </c:barChart>
      <c:catAx>
        <c:axId val="544249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4254664"/>
        <c:crosses val="autoZero"/>
        <c:auto val="1"/>
        <c:lblAlgn val="ctr"/>
        <c:lblOffset val="100"/>
        <c:noMultiLvlLbl val="0"/>
      </c:catAx>
      <c:valAx>
        <c:axId val="54425466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4249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'Cost Benifit'!$F$1</c:f>
              <c:strCache>
                <c:ptCount val="1"/>
                <c:pt idx="0">
                  <c:v>Annual Saving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DE-4951-9E0B-AD3C4A0C49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DE-4951-9E0B-AD3C4A0C4921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DE-4951-9E0B-AD3C4A0C492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6DE-4951-9E0B-AD3C4A0C4921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6DE-4951-9E0B-AD3C4A0C492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6DE-4951-9E0B-AD3C4A0C492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6DE-4951-9E0B-AD3C4A0C492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6DE-4951-9E0B-AD3C4A0C492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36DE-4951-9E0B-AD3C4A0C4921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36DE-4951-9E0B-AD3C4A0C49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'Cost Benifit'!$B$2:$B$6</c:f>
              <c:strCache>
                <c:ptCount val="5"/>
                <c:pt idx="0">
                  <c:v>UK</c:v>
                </c:pt>
                <c:pt idx="1">
                  <c:v>France</c:v>
                </c:pt>
                <c:pt idx="2">
                  <c:v>Germany</c:v>
                </c:pt>
                <c:pt idx="3">
                  <c:v>Netherlands</c:v>
                </c:pt>
                <c:pt idx="4">
                  <c:v>Belgium</c:v>
                </c:pt>
              </c:strCache>
            </c:strRef>
          </c:cat>
          <c:val>
            <c:numRef>
              <c:f>'Cost Benifit'!$F$2:$F$6</c:f>
              <c:numCache>
                <c:formatCode>"£"#,##0</c:formatCode>
                <c:ptCount val="5"/>
                <c:pt idx="0">
                  <c:v>447533</c:v>
                </c:pt>
                <c:pt idx="1">
                  <c:v>33800</c:v>
                </c:pt>
                <c:pt idx="2">
                  <c:v>25493</c:v>
                </c:pt>
                <c:pt idx="3">
                  <c:v>50310</c:v>
                </c:pt>
                <c:pt idx="4">
                  <c:v>37001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6DE-4951-9E0B-AD3C4A0C49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r>
              <a:rPr lang="en-US" dirty="0">
                <a:latin typeface="Calibri" panose="020F0502020204030204" pitchFamily="34" charset="0"/>
              </a:rPr>
              <a:t>LTA vs MTA Conversions by Channel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by Chan'!$L$3</c:f>
              <c:strCache>
                <c:ptCount val="1"/>
                <c:pt idx="0">
                  <c:v>LTA Conversions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multiLvlStrRef>
              <c:f>('Pivot by Chan'!$J$5:$K$10,'Pivot by Chan'!$J$13:$K$18,'Pivot by Chan'!$J$21:$K$26)</c:f>
              <c:multiLvlStrCache>
                <c:ptCount val="18"/>
                <c:lvl>
                  <c:pt idx="0">
                    <c:v>Affiliate</c:v>
                  </c:pt>
                  <c:pt idx="1">
                    <c:v>Display</c:v>
                  </c:pt>
                  <c:pt idx="2">
                    <c:v>PPC</c:v>
                  </c:pt>
                  <c:pt idx="3">
                    <c:v>Social</c:v>
                  </c:pt>
                  <c:pt idx="4">
                    <c:v>Email</c:v>
                  </c:pt>
                  <c:pt idx="5">
                    <c:v>Natural Search</c:v>
                  </c:pt>
                  <c:pt idx="6">
                    <c:v>Affiliate</c:v>
                  </c:pt>
                  <c:pt idx="7">
                    <c:v>Display</c:v>
                  </c:pt>
                  <c:pt idx="8">
                    <c:v>PPC</c:v>
                  </c:pt>
                  <c:pt idx="9">
                    <c:v>Social</c:v>
                  </c:pt>
                  <c:pt idx="10">
                    <c:v>Email</c:v>
                  </c:pt>
                  <c:pt idx="11">
                    <c:v>Natural Search</c:v>
                  </c:pt>
                  <c:pt idx="12">
                    <c:v>Affiliate</c:v>
                  </c:pt>
                  <c:pt idx="13">
                    <c:v>Display</c:v>
                  </c:pt>
                  <c:pt idx="14">
                    <c:v>PPC</c:v>
                  </c:pt>
                  <c:pt idx="15">
                    <c:v>Social</c:v>
                  </c:pt>
                  <c:pt idx="16">
                    <c:v>Email</c:v>
                  </c:pt>
                  <c:pt idx="17">
                    <c:v>Natural Search</c:v>
                  </c:pt>
                </c:lvl>
                <c:lvl>
                  <c:pt idx="0">
                    <c:v>Total</c:v>
                  </c:pt>
                  <c:pt idx="6">
                    <c:v>UK</c:v>
                  </c:pt>
                  <c:pt idx="12">
                    <c:v>Euro</c:v>
                  </c:pt>
                </c:lvl>
              </c:multiLvlStrCache>
            </c:multiLvlStrRef>
          </c:cat>
          <c:val>
            <c:numRef>
              <c:f>('Pivot by Chan'!$L$5:$L$10,'Pivot by Chan'!$L$13:$L$18,'Pivot by Chan'!$L$21:$L$26)</c:f>
              <c:numCache>
                <c:formatCode>_-* #,##0_-;\-* #,##0_-;_-* "-"??_-;_-@_-</c:formatCode>
                <c:ptCount val="18"/>
                <c:pt idx="0">
                  <c:v>20966.400000002584</c:v>
                </c:pt>
                <c:pt idx="1">
                  <c:v>17103.600000000537</c:v>
                </c:pt>
                <c:pt idx="2">
                  <c:v>70628.39999999736</c:v>
                </c:pt>
                <c:pt idx="3">
                  <c:v>17.999999999999996</c:v>
                </c:pt>
                <c:pt idx="4">
                  <c:v>2591.9999999999932</c:v>
                </c:pt>
                <c:pt idx="5">
                  <c:v>12435.600000002209</c:v>
                </c:pt>
                <c:pt idx="6">
                  <c:v>19300.800000002262</c:v>
                </c:pt>
                <c:pt idx="7">
                  <c:v>11847.600000000197</c:v>
                </c:pt>
                <c:pt idx="8">
                  <c:v>57136.799999999188</c:v>
                </c:pt>
                <c:pt idx="9">
                  <c:v>4.8</c:v>
                </c:pt>
                <c:pt idx="10">
                  <c:v>2476.7999999999975</c:v>
                </c:pt>
                <c:pt idx="11">
                  <c:v>9643.1999999995605</c:v>
                </c:pt>
                <c:pt idx="12">
                  <c:v>1665.6000000000172</c:v>
                </c:pt>
                <c:pt idx="13">
                  <c:v>5255.9999999999554</c:v>
                </c:pt>
                <c:pt idx="14">
                  <c:v>13491.600000000197</c:v>
                </c:pt>
                <c:pt idx="15">
                  <c:v>13.199999999999996</c:v>
                </c:pt>
                <c:pt idx="16">
                  <c:v>115.20000000000009</c:v>
                </c:pt>
                <c:pt idx="17">
                  <c:v>2792.4000000000156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73-4844-9A05-D6FAFCBA6588}"/>
            </c:ext>
          </c:extLst>
        </c:ser>
        <c:ser>
          <c:idx val="1"/>
          <c:order val="1"/>
          <c:tx>
            <c:strRef>
              <c:f>'Pivot by Chan'!$M$3</c:f>
              <c:strCache>
                <c:ptCount val="1"/>
                <c:pt idx="0">
                  <c:v>MTA Conversions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('Pivot by Chan'!$J$5:$K$10,'Pivot by Chan'!$J$13:$K$18,'Pivot by Chan'!$J$21:$K$26)</c:f>
              <c:multiLvlStrCache>
                <c:ptCount val="18"/>
                <c:lvl>
                  <c:pt idx="0">
                    <c:v>Affiliate</c:v>
                  </c:pt>
                  <c:pt idx="1">
                    <c:v>Display</c:v>
                  </c:pt>
                  <c:pt idx="2">
                    <c:v>PPC</c:v>
                  </c:pt>
                  <c:pt idx="3">
                    <c:v>Social</c:v>
                  </c:pt>
                  <c:pt idx="4">
                    <c:v>Email</c:v>
                  </c:pt>
                  <c:pt idx="5">
                    <c:v>Natural Search</c:v>
                  </c:pt>
                  <c:pt idx="6">
                    <c:v>Affiliate</c:v>
                  </c:pt>
                  <c:pt idx="7">
                    <c:v>Display</c:v>
                  </c:pt>
                  <c:pt idx="8">
                    <c:v>PPC</c:v>
                  </c:pt>
                  <c:pt idx="9">
                    <c:v>Social</c:v>
                  </c:pt>
                  <c:pt idx="10">
                    <c:v>Email</c:v>
                  </c:pt>
                  <c:pt idx="11">
                    <c:v>Natural Search</c:v>
                  </c:pt>
                  <c:pt idx="12">
                    <c:v>Affiliate</c:v>
                  </c:pt>
                  <c:pt idx="13">
                    <c:v>Display</c:v>
                  </c:pt>
                  <c:pt idx="14">
                    <c:v>PPC</c:v>
                  </c:pt>
                  <c:pt idx="15">
                    <c:v>Social</c:v>
                  </c:pt>
                  <c:pt idx="16">
                    <c:v>Email</c:v>
                  </c:pt>
                  <c:pt idx="17">
                    <c:v>Natural Search</c:v>
                  </c:pt>
                </c:lvl>
                <c:lvl>
                  <c:pt idx="0">
                    <c:v>Total</c:v>
                  </c:pt>
                  <c:pt idx="6">
                    <c:v>UK</c:v>
                  </c:pt>
                  <c:pt idx="12">
                    <c:v>Euro</c:v>
                  </c:pt>
                </c:lvl>
              </c:multiLvlStrCache>
            </c:multiLvlStrRef>
          </c:cat>
          <c:val>
            <c:numRef>
              <c:f>('Pivot by Chan'!$M$5:$M$10,'Pivot by Chan'!$M$13:$M$18,'Pivot by Chan'!$M$21:$M$26)</c:f>
              <c:numCache>
                <c:formatCode>_-* #,##0_-;\-* #,##0_-;_-* "-"??_-;_-@_-</c:formatCode>
                <c:ptCount val="18"/>
                <c:pt idx="0">
                  <c:v>16161.811299323121</c:v>
                </c:pt>
                <c:pt idx="1">
                  <c:v>30645.593503022326</c:v>
                </c:pt>
                <c:pt idx="2">
                  <c:v>65305.177975200451</c:v>
                </c:pt>
                <c:pt idx="3">
                  <c:v>35.391935785669268</c:v>
                </c:pt>
                <c:pt idx="4">
                  <c:v>1992.4395168139797</c:v>
                </c:pt>
                <c:pt idx="5">
                  <c:v>9554.0258325118921</c:v>
                </c:pt>
                <c:pt idx="6">
                  <c:v>14958.39094608196</c:v>
                </c:pt>
                <c:pt idx="7">
                  <c:v>22558.429779441314</c:v>
                </c:pt>
                <c:pt idx="8">
                  <c:v>52491.629255120795</c:v>
                </c:pt>
                <c:pt idx="9">
                  <c:v>9.580681563275709</c:v>
                </c:pt>
                <c:pt idx="10">
                  <c:v>1895.0415357344866</c:v>
                </c:pt>
                <c:pt idx="11">
                  <c:v>7660.1436068047042</c:v>
                </c:pt>
                <c:pt idx="12">
                  <c:v>1203.4203532411523</c:v>
                </c:pt>
                <c:pt idx="13">
                  <c:v>8087.1637235809812</c:v>
                </c:pt>
                <c:pt idx="14">
                  <c:v>12813.548720080378</c:v>
                </c:pt>
                <c:pt idx="15">
                  <c:v>25.811254222393547</c:v>
                </c:pt>
                <c:pt idx="16">
                  <c:v>97.39798107949251</c:v>
                </c:pt>
                <c:pt idx="17">
                  <c:v>1893.8822257073698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73-4844-9A05-D6FAFCBA6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651557912"/>
        <c:axId val="651554632"/>
      </c:barChart>
      <c:catAx>
        <c:axId val="651557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n-US"/>
          </a:p>
        </c:txPr>
        <c:crossAx val="651554632"/>
        <c:crosses val="autoZero"/>
        <c:auto val="1"/>
        <c:lblAlgn val="ctr"/>
        <c:lblOffset val="100"/>
        <c:noMultiLvlLbl val="0"/>
      </c:catAx>
      <c:valAx>
        <c:axId val="651554632"/>
        <c:scaling>
          <c:orientation val="minMax"/>
        </c:scaling>
        <c:delete val="0"/>
        <c:axPos val="l"/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n-US"/>
          </a:p>
        </c:txPr>
        <c:crossAx val="651557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Mobile</a:t>
            </a:r>
            <a:r>
              <a:rPr lang="en-US" baseline="0"/>
              <a:t> Users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49C-4835-A06E-24C28762E9E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49C-4835-A06E-24C28762E9E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'[Analytics Production - Raw roll up Overview 20171007-20171105.xlsx]Sheet1'!$O$2:$O$3</c:f>
              <c:strCache>
                <c:ptCount val="2"/>
                <c:pt idx="0">
                  <c:v>Safari</c:v>
                </c:pt>
                <c:pt idx="1">
                  <c:v>Non-Safari</c:v>
                </c:pt>
              </c:strCache>
            </c:strRef>
          </c:cat>
          <c:val>
            <c:numRef>
              <c:f>'[Analytics Production - Raw roll up Overview 20171007-20171105.xlsx]Sheet1'!$P$2:$P$3</c:f>
              <c:numCache>
                <c:formatCode>0%</c:formatCode>
                <c:ptCount val="2"/>
                <c:pt idx="0">
                  <c:v>0.52461063906288441</c:v>
                </c:pt>
                <c:pt idx="1">
                  <c:v>0.47538936093711559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49C-4835-A06E-24C28762E9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Mobile</a:t>
            </a:r>
            <a:r>
              <a:rPr lang="en-US" baseline="0"/>
              <a:t> and Desktop Users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4FC-4401-827B-A660D51C125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4FC-4401-827B-A660D51C12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'[Analytics Production - Raw roll up Overview 20171007-20171105.xlsx]Dataset1'!$O$63:$O$64</c:f>
              <c:strCache>
                <c:ptCount val="2"/>
                <c:pt idx="0">
                  <c:v>Safari</c:v>
                </c:pt>
                <c:pt idx="1">
                  <c:v>Non-Safari</c:v>
                </c:pt>
              </c:strCache>
            </c:strRef>
          </c:cat>
          <c:val>
            <c:numRef>
              <c:f>'[Analytics Production - Raw roll up Overview 20171007-20171105.xlsx]Dataset1'!$P$63:$P$64</c:f>
              <c:numCache>
                <c:formatCode>0%</c:formatCode>
                <c:ptCount val="2"/>
                <c:pt idx="0">
                  <c:v>0.3934940917549829</c:v>
                </c:pt>
                <c:pt idx="1">
                  <c:v>0.60650590824501704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FC-4401-827B-A660D51C125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2CE4FE-5101-4363-BE90-CE9E5546709B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D6B2D7D5-452B-47C1-B4C9-A117C79BD508}">
      <dgm:prSet phldrT="[Text]" custT="1"/>
      <dgm:spPr>
        <a:xfrm>
          <a:off x="877" y="575169"/>
          <a:ext cx="896067" cy="50823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Stage 1</a:t>
          </a:r>
        </a:p>
      </dgm:t>
    </dgm:pt>
    <dgm:pt modelId="{36816A4F-4A93-4498-9479-7ECACD3DD23F}" type="parTrans" cxnId="{6439736B-9621-4016-994B-89741688E68C}">
      <dgm:prSet/>
      <dgm:spPr/>
      <dgm:t>
        <a:bodyPr/>
        <a:lstStyle/>
        <a:p>
          <a:endParaRPr lang="en-US"/>
        </a:p>
      </dgm:t>
    </dgm:pt>
    <dgm:pt modelId="{3ABEE49E-ECCE-4E9C-B511-A90050CB2A72}" type="sibTrans" cxnId="{6439736B-9621-4016-994B-89741688E68C}">
      <dgm:prSet/>
      <dgm:spPr>
        <a:xfrm>
          <a:off x="1032785" y="633033"/>
          <a:ext cx="287982" cy="223094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BBDB0D81-8AF9-414E-A1DB-A5AC4103FDB5}">
      <dgm:prSet phldrT="[Text]" custT="1"/>
      <dgm:spPr>
        <a:xfrm>
          <a:off x="1440306" y="575169"/>
          <a:ext cx="896067" cy="50823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Stage 2</a:t>
          </a:r>
        </a:p>
      </dgm:t>
    </dgm:pt>
    <dgm:pt modelId="{22B1FA41-24DF-4E4C-A85D-FBCBD2750EB6}" type="parTrans" cxnId="{CB305344-29AB-4378-96E5-C7552F1B1984}">
      <dgm:prSet/>
      <dgm:spPr/>
      <dgm:t>
        <a:bodyPr/>
        <a:lstStyle/>
        <a:p>
          <a:endParaRPr lang="en-US"/>
        </a:p>
      </dgm:t>
    </dgm:pt>
    <dgm:pt modelId="{5F690C21-7DFF-4B74-874C-025854F4F3C1}" type="sibTrans" cxnId="{CB305344-29AB-4378-96E5-C7552F1B1984}">
      <dgm:prSet/>
      <dgm:spPr>
        <a:xfrm>
          <a:off x="2472214" y="633033"/>
          <a:ext cx="287982" cy="223094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104B2145-1EAC-4F37-8207-3BE8ED6EEED2}">
      <dgm:prSet phldrT="[Text]" custT="1"/>
      <dgm:spPr>
        <a:xfrm>
          <a:off x="2879736" y="575169"/>
          <a:ext cx="896067" cy="50823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Test </a:t>
          </a:r>
        </a:p>
      </dgm:t>
    </dgm:pt>
    <dgm:pt modelId="{FBDA4FFD-A9E2-4C4A-80B2-01D82A08E868}" type="parTrans" cxnId="{32ACAC69-1AD3-4968-8B02-B0CD669ACDD9}">
      <dgm:prSet/>
      <dgm:spPr/>
      <dgm:t>
        <a:bodyPr/>
        <a:lstStyle/>
        <a:p>
          <a:endParaRPr lang="en-US"/>
        </a:p>
      </dgm:t>
    </dgm:pt>
    <dgm:pt modelId="{872B4349-7FF0-4204-B270-37E4513E1B93}" type="sibTrans" cxnId="{32ACAC69-1AD3-4968-8B02-B0CD669ACDD9}">
      <dgm:prSet/>
      <dgm:spPr>
        <a:xfrm>
          <a:off x="3911644" y="633033"/>
          <a:ext cx="287982" cy="223094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EE9D9F26-8635-436E-BBD9-B12ABF7278F9}">
      <dgm:prSet custT="1"/>
      <dgm:spPr>
        <a:xfrm>
          <a:off x="4319166" y="575169"/>
          <a:ext cx="1069581" cy="50823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Integration</a:t>
          </a:r>
        </a:p>
      </dgm:t>
    </dgm:pt>
    <dgm:pt modelId="{B90460AA-44BD-4D9F-81C6-C49F41220E55}" type="parTrans" cxnId="{90FC92BE-10CA-4F2B-9069-034EEEEED01C}">
      <dgm:prSet/>
      <dgm:spPr/>
      <dgm:t>
        <a:bodyPr/>
        <a:lstStyle/>
        <a:p>
          <a:endParaRPr lang="en-US"/>
        </a:p>
      </dgm:t>
    </dgm:pt>
    <dgm:pt modelId="{C13A445F-F090-4845-A97E-EA82C265429F}" type="sibTrans" cxnId="{90FC92BE-10CA-4F2B-9069-034EEEEED01C}">
      <dgm:prSet/>
      <dgm:spPr/>
      <dgm:t>
        <a:bodyPr/>
        <a:lstStyle/>
        <a:p>
          <a:endParaRPr lang="en-US"/>
        </a:p>
      </dgm:t>
    </dgm:pt>
    <dgm:pt modelId="{42A73B6A-85BE-449E-899E-67A03F25ABB1}">
      <dgm:prSet/>
      <dgm:spPr>
        <a:xfrm>
          <a:off x="184409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Completed Nov 17'</a:t>
          </a:r>
        </a:p>
      </dgm:t>
    </dgm:pt>
    <dgm:pt modelId="{85311FDE-0994-4D8B-AD85-4D03D5CC8252}" type="parTrans" cxnId="{49ACFD07-309E-49C8-8D13-8BBA892ECFAD}">
      <dgm:prSet/>
      <dgm:spPr/>
      <dgm:t>
        <a:bodyPr/>
        <a:lstStyle/>
        <a:p>
          <a:endParaRPr lang="en-US"/>
        </a:p>
      </dgm:t>
    </dgm:pt>
    <dgm:pt modelId="{6E56EB87-A3CA-4F3C-8DF5-AA055DE043C1}" type="sibTrans" cxnId="{49ACFD07-309E-49C8-8D13-8BBA892ECFAD}">
      <dgm:prSet/>
      <dgm:spPr/>
      <dgm:t>
        <a:bodyPr/>
        <a:lstStyle/>
        <a:p>
          <a:endParaRPr lang="en-US"/>
        </a:p>
      </dgm:t>
    </dgm:pt>
    <dgm:pt modelId="{8C315FEA-9509-46C0-9885-2ED0BED60A74}">
      <dgm:prSet/>
      <dgm:spPr>
        <a:xfrm>
          <a:off x="1623838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Full MTA to 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be completed before the end of Dec 17'</a:t>
          </a:r>
        </a:p>
      </dgm:t>
    </dgm:pt>
    <dgm:pt modelId="{A6C9F83E-CBD5-4F93-82D8-55D5D95D6559}" type="parTrans" cxnId="{BFAD215A-250B-4002-8B87-AF3546365D02}">
      <dgm:prSet/>
      <dgm:spPr/>
      <dgm:t>
        <a:bodyPr/>
        <a:lstStyle/>
        <a:p>
          <a:endParaRPr lang="en-US"/>
        </a:p>
      </dgm:t>
    </dgm:pt>
    <dgm:pt modelId="{22380D90-AB85-4377-95CB-B73098BD807E}" type="sibTrans" cxnId="{BFAD215A-250B-4002-8B87-AF3546365D02}">
      <dgm:prSet/>
      <dgm:spPr/>
      <dgm:t>
        <a:bodyPr/>
        <a:lstStyle/>
        <a:p>
          <a:endParaRPr lang="en-US"/>
        </a:p>
      </dgm:t>
    </dgm:pt>
    <dgm:pt modelId="{4E3041E6-148B-4504-A56B-96220BCBB440}">
      <dgm:prSet/>
      <dgm:spPr>
        <a:xfrm>
          <a:off x="1623838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E2E715A0-E54B-4025-9690-1DFB2D7B9D0B}" type="parTrans" cxnId="{3EEB3849-2412-4324-883D-90308A47FE60}">
      <dgm:prSet/>
      <dgm:spPr/>
      <dgm:t>
        <a:bodyPr/>
        <a:lstStyle/>
        <a:p>
          <a:endParaRPr lang="en-US"/>
        </a:p>
      </dgm:t>
    </dgm:pt>
    <dgm:pt modelId="{DED49E5F-DD69-4751-AB69-C86B308F5640}" type="sibTrans" cxnId="{3EEB3849-2412-4324-883D-90308A47FE60}">
      <dgm:prSet/>
      <dgm:spPr/>
      <dgm:t>
        <a:bodyPr/>
        <a:lstStyle/>
        <a:p>
          <a:endParaRPr lang="en-US"/>
        </a:p>
      </dgm:t>
    </dgm:pt>
    <dgm:pt modelId="{5038E8D5-6D4E-441B-B586-BB5C27D9EB53}">
      <dgm:prSet/>
      <dgm:spPr>
        <a:xfrm>
          <a:off x="3078510" y="89034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Test will begin in January alongside normal planning</a:t>
          </a:r>
        </a:p>
      </dgm:t>
    </dgm:pt>
    <dgm:pt modelId="{D3BFAF6F-A21B-4E48-B957-DC92CF06469B}" type="parTrans" cxnId="{C6CCF1F5-CBEE-45BE-97BC-2BFEF761492F}">
      <dgm:prSet/>
      <dgm:spPr/>
      <dgm:t>
        <a:bodyPr/>
        <a:lstStyle/>
        <a:p>
          <a:endParaRPr lang="en-US"/>
        </a:p>
      </dgm:t>
    </dgm:pt>
    <dgm:pt modelId="{0D87E3E2-6CCB-4D4F-9D92-E7A862F1C4B4}" type="sibTrans" cxnId="{C6CCF1F5-CBEE-45BE-97BC-2BFEF761492F}">
      <dgm:prSet/>
      <dgm:spPr/>
      <dgm:t>
        <a:bodyPr/>
        <a:lstStyle/>
        <a:p>
          <a:endParaRPr lang="en-US"/>
        </a:p>
      </dgm:t>
    </dgm:pt>
    <dgm:pt modelId="{5CEB0118-C885-415E-ADC9-509C121AEB4C}">
      <dgm:prSet/>
      <dgm:spPr>
        <a:xfrm>
          <a:off x="4589455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Once the test has been proved successful we will move to full integration of MTA and 'Optimum' into digital spend</a:t>
          </a:r>
        </a:p>
      </dgm:t>
    </dgm:pt>
    <dgm:pt modelId="{B993CF65-3120-40A4-88EF-03E063C2BE68}" type="parTrans" cxnId="{7673D739-1A2C-402E-8945-A4D1E9905DCD}">
      <dgm:prSet/>
      <dgm:spPr/>
      <dgm:t>
        <a:bodyPr/>
        <a:lstStyle/>
        <a:p>
          <a:endParaRPr lang="en-US"/>
        </a:p>
      </dgm:t>
    </dgm:pt>
    <dgm:pt modelId="{B66FE837-4CF8-425F-AE11-2C3AECD81199}" type="sibTrans" cxnId="{7673D739-1A2C-402E-8945-A4D1E9905DCD}">
      <dgm:prSet/>
      <dgm:spPr/>
      <dgm:t>
        <a:bodyPr/>
        <a:lstStyle/>
        <a:p>
          <a:endParaRPr lang="en-US"/>
        </a:p>
      </dgm:t>
    </dgm:pt>
    <dgm:pt modelId="{608ABBE3-B192-4EFE-9216-26A48F3316E8}">
      <dgm:prSet/>
      <dgm:spPr>
        <a:xfrm>
          <a:off x="184409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Recommendation to proceed to Stage 2</a:t>
          </a:r>
        </a:p>
      </dgm:t>
    </dgm:pt>
    <dgm:pt modelId="{66A782E6-6F2F-4A9D-8309-300B3B46D02D}" type="parTrans" cxnId="{F2829D5A-5859-4A44-B05B-460E7207A507}">
      <dgm:prSet/>
      <dgm:spPr/>
      <dgm:t>
        <a:bodyPr/>
        <a:lstStyle/>
        <a:p>
          <a:endParaRPr lang="en-US"/>
        </a:p>
      </dgm:t>
    </dgm:pt>
    <dgm:pt modelId="{E2E3DD0D-F701-420A-AE51-BC835BE1C1D4}" type="sibTrans" cxnId="{F2829D5A-5859-4A44-B05B-460E7207A507}">
      <dgm:prSet/>
      <dgm:spPr/>
      <dgm:t>
        <a:bodyPr/>
        <a:lstStyle/>
        <a:p>
          <a:endParaRPr lang="en-US"/>
        </a:p>
      </dgm:t>
    </dgm:pt>
    <dgm:pt modelId="{8E48B8C2-04D5-4554-8E40-5D4B7DA24279}">
      <dgm:prSet/>
      <dgm:spPr>
        <a:xfrm>
          <a:off x="184409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2C06997B-B512-45DA-8BC9-D315FF76EFA6}" type="parTrans" cxnId="{CF46D782-5F95-448C-BBA6-2A3F59EC399A}">
      <dgm:prSet/>
      <dgm:spPr/>
      <dgm:t>
        <a:bodyPr/>
        <a:lstStyle/>
        <a:p>
          <a:endParaRPr lang="en-US"/>
        </a:p>
      </dgm:t>
    </dgm:pt>
    <dgm:pt modelId="{FD69C876-470C-4A2D-BD52-CB901AF5ACBB}" type="sibTrans" cxnId="{CF46D782-5F95-448C-BBA6-2A3F59EC399A}">
      <dgm:prSet/>
      <dgm:spPr/>
      <dgm:t>
        <a:bodyPr/>
        <a:lstStyle/>
        <a:p>
          <a:endParaRPr lang="en-US"/>
        </a:p>
      </dgm:t>
    </dgm:pt>
    <dgm:pt modelId="{F1F84934-E30F-4FBE-BDFE-46A999FA66C1}">
      <dgm:prSet/>
      <dgm:spPr>
        <a:xfrm>
          <a:off x="1623838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MTA will inlcude extra channels from stage 1 (Natural Search, email and affiliate site split)</a:t>
          </a:r>
        </a:p>
      </dgm:t>
    </dgm:pt>
    <dgm:pt modelId="{05748DC4-0EE7-4673-BF9C-85E01FBC451E}" type="parTrans" cxnId="{C79270F2-5164-4DFF-B1E5-0408B43877EC}">
      <dgm:prSet/>
      <dgm:spPr/>
      <dgm:t>
        <a:bodyPr/>
        <a:lstStyle/>
        <a:p>
          <a:endParaRPr lang="en-US"/>
        </a:p>
      </dgm:t>
    </dgm:pt>
    <dgm:pt modelId="{78C0301A-9774-41BE-B755-8758498ACE9A}" type="sibTrans" cxnId="{C79270F2-5164-4DFF-B1E5-0408B43877EC}">
      <dgm:prSet/>
      <dgm:spPr/>
      <dgm:t>
        <a:bodyPr/>
        <a:lstStyle/>
        <a:p>
          <a:endParaRPr lang="en-US"/>
        </a:p>
      </dgm:t>
    </dgm:pt>
    <dgm:pt modelId="{7732ACF9-EA06-45BC-9112-E8F5520D0647}">
      <dgm:prSet/>
      <dgm:spPr>
        <a:xfrm>
          <a:off x="1623838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Build 'Optimum' , the web application optimisation tool</a:t>
          </a:r>
        </a:p>
      </dgm:t>
    </dgm:pt>
    <dgm:pt modelId="{E7024C96-BFE6-4EC5-89A6-361BD2E82505}" type="parTrans" cxnId="{49B05A07-8A0C-4DD1-905C-2B4D080F4C71}">
      <dgm:prSet/>
      <dgm:spPr/>
      <dgm:t>
        <a:bodyPr/>
        <a:lstStyle/>
        <a:p>
          <a:endParaRPr lang="en-US"/>
        </a:p>
      </dgm:t>
    </dgm:pt>
    <dgm:pt modelId="{7A8BE986-DDD5-4695-8CE0-EE49A84DDCED}" type="sibTrans" cxnId="{49B05A07-8A0C-4DD1-905C-2B4D080F4C71}">
      <dgm:prSet/>
      <dgm:spPr/>
      <dgm:t>
        <a:bodyPr/>
        <a:lstStyle/>
        <a:p>
          <a:endParaRPr lang="en-US"/>
        </a:p>
      </dgm:t>
    </dgm:pt>
    <dgm:pt modelId="{12CDF564-78F2-49CA-AF27-6C333B05B1B4}">
      <dgm:prSet/>
      <dgm:spPr>
        <a:xfrm>
          <a:off x="1623838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48D8EF31-395F-4BA7-A768-B48EB667D990}" type="parTrans" cxnId="{3A533100-8B50-4E49-8C06-8D7DBE5C34C7}">
      <dgm:prSet/>
      <dgm:spPr/>
      <dgm:t>
        <a:bodyPr/>
        <a:lstStyle/>
        <a:p>
          <a:endParaRPr lang="en-US"/>
        </a:p>
      </dgm:t>
    </dgm:pt>
    <dgm:pt modelId="{28E82DFF-507E-4ED1-B712-566DF4F93D2F}" type="sibTrans" cxnId="{3A533100-8B50-4E49-8C06-8D7DBE5C34C7}">
      <dgm:prSet/>
      <dgm:spPr/>
      <dgm:t>
        <a:bodyPr/>
        <a:lstStyle/>
        <a:p>
          <a:endParaRPr lang="en-US"/>
        </a:p>
      </dgm:t>
    </dgm:pt>
    <dgm:pt modelId="{4F10DF80-2ED3-4D66-9435-F1BE481AD45D}">
      <dgm:prSet/>
      <dgm:spPr>
        <a:xfrm>
          <a:off x="3078510" y="89034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Test will show the results (CPA) of what could have been achieved if the MTA recommendations had been implemented</a:t>
          </a:r>
        </a:p>
      </dgm:t>
    </dgm:pt>
    <dgm:pt modelId="{48BCC47A-B83A-4AC6-B761-CB0C3C5BEE35}" type="parTrans" cxnId="{DDE0DF89-7BB7-4285-A8A3-7ADC069E1AF1}">
      <dgm:prSet/>
      <dgm:spPr/>
      <dgm:t>
        <a:bodyPr/>
        <a:lstStyle/>
        <a:p>
          <a:endParaRPr lang="en-US"/>
        </a:p>
      </dgm:t>
    </dgm:pt>
    <dgm:pt modelId="{78D9F174-20C9-4809-9018-6DA787D3DAEF}" type="sibTrans" cxnId="{DDE0DF89-7BB7-4285-A8A3-7ADC069E1AF1}">
      <dgm:prSet/>
      <dgm:spPr/>
      <dgm:t>
        <a:bodyPr/>
        <a:lstStyle/>
        <a:p>
          <a:endParaRPr lang="en-US"/>
        </a:p>
      </dgm:t>
    </dgm:pt>
    <dgm:pt modelId="{DE32EF8A-DB06-4376-81DB-DE9BB22F60C9}">
      <dgm:prSet/>
      <dgm:spPr>
        <a:xfrm>
          <a:off x="3078510" y="89034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D7381147-9FA0-42C0-84BC-AD3CDFB048E4}" type="parTrans" cxnId="{FCCD0A87-764A-4D28-BF7D-75D80A543610}">
      <dgm:prSet/>
      <dgm:spPr/>
      <dgm:t>
        <a:bodyPr/>
        <a:lstStyle/>
        <a:p>
          <a:endParaRPr lang="en-US"/>
        </a:p>
      </dgm:t>
    </dgm:pt>
    <dgm:pt modelId="{4FBC7782-C7FD-44C8-953F-8D4C4FE6F776}" type="sibTrans" cxnId="{FCCD0A87-764A-4D28-BF7D-75D80A543610}">
      <dgm:prSet/>
      <dgm:spPr/>
      <dgm:t>
        <a:bodyPr/>
        <a:lstStyle/>
        <a:p>
          <a:endParaRPr lang="en-US"/>
        </a:p>
      </dgm:t>
    </dgm:pt>
    <dgm:pt modelId="{0BA1E716-F2BA-4A1D-BE7E-79CE594A2798}">
      <dgm:prSet/>
      <dgm:spPr>
        <a:xfrm>
          <a:off x="4589455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Q2 2018 auto integration for DoubleClick search and ongoing development will be </a:t>
          </a:r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implemented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6C3C6FE1-28CD-46C6-A52E-6B60C0277DC4}" type="parTrans" cxnId="{548D16DD-09CF-4885-9458-4F6F5EE83EDD}">
      <dgm:prSet/>
      <dgm:spPr/>
      <dgm:t>
        <a:bodyPr/>
        <a:lstStyle/>
        <a:p>
          <a:endParaRPr lang="en-US"/>
        </a:p>
      </dgm:t>
    </dgm:pt>
    <dgm:pt modelId="{1A192A7C-2D21-4B92-83D7-E13646BA8A32}" type="sibTrans" cxnId="{548D16DD-09CF-4885-9458-4F6F5EE83EDD}">
      <dgm:prSet/>
      <dgm:spPr/>
      <dgm:t>
        <a:bodyPr/>
        <a:lstStyle/>
        <a:p>
          <a:endParaRPr lang="en-US"/>
        </a:p>
      </dgm:t>
    </dgm:pt>
    <dgm:pt modelId="{1F7FFD02-079E-4591-9972-5F1967E883F8}">
      <dgm:prSet/>
      <dgm:spPr>
        <a:xfrm>
          <a:off x="4589455" y="913993"/>
          <a:ext cx="896067" cy="171123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18DB1CF3-8A83-4FC4-B931-1D65E5D02BDF}" type="parTrans" cxnId="{7A2156CE-85AB-422B-9CA0-E14B558EA0BA}">
      <dgm:prSet/>
      <dgm:spPr/>
      <dgm:t>
        <a:bodyPr/>
        <a:lstStyle/>
        <a:p>
          <a:endParaRPr lang="en-US"/>
        </a:p>
      </dgm:t>
    </dgm:pt>
    <dgm:pt modelId="{C5039154-5136-470F-AFF6-4E33B07E53C7}" type="sibTrans" cxnId="{7A2156CE-85AB-422B-9CA0-E14B558EA0BA}">
      <dgm:prSet/>
      <dgm:spPr/>
      <dgm:t>
        <a:bodyPr/>
        <a:lstStyle/>
        <a:p>
          <a:endParaRPr lang="en-US"/>
        </a:p>
      </dgm:t>
    </dgm:pt>
    <dgm:pt modelId="{ABA079BC-E37B-43B2-8C63-15DE108DF92B}">
      <dgm:prSet/>
      <dgm:spPr>
        <a:xfrm>
          <a:off x="1623838" y="913993"/>
          <a:ext cx="896067" cy="1711237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GB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Begin integration of MTA results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335EBACF-805F-4925-8113-8A5F9E8A410B}" type="parTrans" cxnId="{CB1AABE9-D774-4DAE-8092-1057A00F7449}">
      <dgm:prSet/>
      <dgm:spPr/>
      <dgm:t>
        <a:bodyPr/>
        <a:lstStyle/>
        <a:p>
          <a:endParaRPr lang="en-US"/>
        </a:p>
      </dgm:t>
    </dgm:pt>
    <dgm:pt modelId="{71A2568F-5B6D-45B1-AAF3-0F621B926499}" type="sibTrans" cxnId="{CB1AABE9-D774-4DAE-8092-1057A00F7449}">
      <dgm:prSet/>
      <dgm:spPr/>
      <dgm:t>
        <a:bodyPr/>
        <a:lstStyle/>
        <a:p>
          <a:endParaRPr lang="en-US"/>
        </a:p>
      </dgm:t>
    </dgm:pt>
    <dgm:pt modelId="{68D19932-1EC0-4708-8474-CE0EFB1E6A19}" type="pres">
      <dgm:prSet presAssocID="{E52CE4FE-5101-4363-BE90-CE9E5546709B}" presName="linearFlow" presStyleCnt="0">
        <dgm:presLayoutVars>
          <dgm:dir/>
          <dgm:animLvl val="lvl"/>
          <dgm:resizeHandles val="exact"/>
        </dgm:presLayoutVars>
      </dgm:prSet>
      <dgm:spPr/>
    </dgm:pt>
    <dgm:pt modelId="{2E5C56FC-D98F-4EDA-9279-74E63BFAB2DD}" type="pres">
      <dgm:prSet presAssocID="{D6B2D7D5-452B-47C1-B4C9-A117C79BD508}" presName="composite" presStyleCnt="0"/>
      <dgm:spPr/>
    </dgm:pt>
    <dgm:pt modelId="{6AB12C44-FACD-40E8-B271-74ED56F0B430}" type="pres">
      <dgm:prSet presAssocID="{D6B2D7D5-452B-47C1-B4C9-A117C79BD508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581F9D-8E9D-4528-A6D9-F99B24E9B56E}" type="pres">
      <dgm:prSet presAssocID="{D6B2D7D5-452B-47C1-B4C9-A117C79BD508}" presName="parSh" presStyleLbl="node1" presStyleIdx="0" presStyleCnt="4"/>
      <dgm:spPr/>
      <dgm:t>
        <a:bodyPr/>
        <a:lstStyle/>
        <a:p>
          <a:endParaRPr lang="en-US"/>
        </a:p>
      </dgm:t>
    </dgm:pt>
    <dgm:pt modelId="{1D5B27F6-BAA4-4127-A638-3BA6EC281B2B}" type="pres">
      <dgm:prSet presAssocID="{D6B2D7D5-452B-47C1-B4C9-A117C79BD508}" presName="desTx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0DA530-A3EA-4999-ACAD-DD1C8DD7AAC1}" type="pres">
      <dgm:prSet presAssocID="{3ABEE49E-ECCE-4E9C-B511-A90050CB2A72}" presName="sibTrans" presStyleLbl="sibTrans2D1" presStyleIdx="0" presStyleCnt="3"/>
      <dgm:spPr/>
      <dgm:t>
        <a:bodyPr/>
        <a:lstStyle/>
        <a:p>
          <a:endParaRPr lang="en-US"/>
        </a:p>
      </dgm:t>
    </dgm:pt>
    <dgm:pt modelId="{5237726C-F166-4B62-B32E-73D036AE06AE}" type="pres">
      <dgm:prSet presAssocID="{3ABEE49E-ECCE-4E9C-B511-A90050CB2A72}" presName="connTx" presStyleLbl="sibTrans2D1" presStyleIdx="0" presStyleCnt="3"/>
      <dgm:spPr/>
      <dgm:t>
        <a:bodyPr/>
        <a:lstStyle/>
        <a:p>
          <a:endParaRPr lang="en-US"/>
        </a:p>
      </dgm:t>
    </dgm:pt>
    <dgm:pt modelId="{157D4293-058E-4541-B3C2-9B0B017DF44D}" type="pres">
      <dgm:prSet presAssocID="{BBDB0D81-8AF9-414E-A1DB-A5AC4103FDB5}" presName="composite" presStyleCnt="0"/>
      <dgm:spPr/>
    </dgm:pt>
    <dgm:pt modelId="{6FD64467-3B1F-4567-BD27-877A23A88B65}" type="pres">
      <dgm:prSet presAssocID="{BBDB0D81-8AF9-414E-A1DB-A5AC4103FDB5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FE394F-FC02-4361-B908-92EFEDFE0032}" type="pres">
      <dgm:prSet presAssocID="{BBDB0D81-8AF9-414E-A1DB-A5AC4103FDB5}" presName="parSh" presStyleLbl="node1" presStyleIdx="1" presStyleCnt="4"/>
      <dgm:spPr/>
      <dgm:t>
        <a:bodyPr/>
        <a:lstStyle/>
        <a:p>
          <a:endParaRPr lang="en-US"/>
        </a:p>
      </dgm:t>
    </dgm:pt>
    <dgm:pt modelId="{C9CC5BE0-FF02-4BAB-8C94-7977B81163A0}" type="pres">
      <dgm:prSet presAssocID="{BBDB0D81-8AF9-414E-A1DB-A5AC4103FDB5}" presName="desTx" presStyleLbl="fgAcc1" presStyleIdx="1" presStyleCnt="4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  <dgm:t>
        <a:bodyPr/>
        <a:lstStyle/>
        <a:p>
          <a:endParaRPr lang="en-US"/>
        </a:p>
      </dgm:t>
    </dgm:pt>
    <dgm:pt modelId="{528A4162-A7E7-4627-BE03-0336CD6DED16}" type="pres">
      <dgm:prSet presAssocID="{5F690C21-7DFF-4B74-874C-025854F4F3C1}" presName="sibTrans" presStyleLbl="sibTrans2D1" presStyleIdx="1" presStyleCnt="3"/>
      <dgm:spPr/>
      <dgm:t>
        <a:bodyPr/>
        <a:lstStyle/>
        <a:p>
          <a:endParaRPr lang="en-US"/>
        </a:p>
      </dgm:t>
    </dgm:pt>
    <dgm:pt modelId="{A87746A9-FDBB-459F-8F84-A15181FACA99}" type="pres">
      <dgm:prSet presAssocID="{5F690C21-7DFF-4B74-874C-025854F4F3C1}" presName="connTx" presStyleLbl="sibTrans2D1" presStyleIdx="1" presStyleCnt="3"/>
      <dgm:spPr/>
      <dgm:t>
        <a:bodyPr/>
        <a:lstStyle/>
        <a:p>
          <a:endParaRPr lang="en-US"/>
        </a:p>
      </dgm:t>
    </dgm:pt>
    <dgm:pt modelId="{EBC3E070-5C89-4A40-B67D-62C1DD9AE827}" type="pres">
      <dgm:prSet presAssocID="{104B2145-1EAC-4F37-8207-3BE8ED6EEED2}" presName="composite" presStyleCnt="0"/>
      <dgm:spPr/>
    </dgm:pt>
    <dgm:pt modelId="{50A7B7C6-7E3B-451D-9C39-9A49D70C83FD}" type="pres">
      <dgm:prSet presAssocID="{104B2145-1EAC-4F37-8207-3BE8ED6EEED2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100C2F-A97C-490D-BFAE-F45C27BAA8D3}" type="pres">
      <dgm:prSet presAssocID="{104B2145-1EAC-4F37-8207-3BE8ED6EEED2}" presName="parSh" presStyleLbl="node1" presStyleIdx="2" presStyleCnt="4"/>
      <dgm:spPr/>
      <dgm:t>
        <a:bodyPr/>
        <a:lstStyle/>
        <a:p>
          <a:endParaRPr lang="en-US"/>
        </a:p>
      </dgm:t>
    </dgm:pt>
    <dgm:pt modelId="{8F05A497-9688-4A64-AF37-A73F9987715C}" type="pres">
      <dgm:prSet presAssocID="{104B2145-1EAC-4F37-8207-3BE8ED6EEED2}" presName="desTx" presStyleLbl="fgAcc1" presStyleIdx="2" presStyleCnt="4" custLinFactNeighborX="1701" custLinFactNeighborY="-13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C69793-8858-4C04-943A-85527612947F}" type="pres">
      <dgm:prSet presAssocID="{872B4349-7FF0-4204-B270-37E4513E1B93}" presName="sibTrans" presStyleLbl="sibTrans2D1" presStyleIdx="2" presStyleCnt="3"/>
      <dgm:spPr/>
      <dgm:t>
        <a:bodyPr/>
        <a:lstStyle/>
        <a:p>
          <a:endParaRPr lang="en-US"/>
        </a:p>
      </dgm:t>
    </dgm:pt>
    <dgm:pt modelId="{FB6FD6CD-A476-4900-A0EC-A5C18A53AD9B}" type="pres">
      <dgm:prSet presAssocID="{872B4349-7FF0-4204-B270-37E4513E1B93}" presName="connTx" presStyleLbl="sibTrans2D1" presStyleIdx="2" presStyleCnt="3"/>
      <dgm:spPr/>
      <dgm:t>
        <a:bodyPr/>
        <a:lstStyle/>
        <a:p>
          <a:endParaRPr lang="en-US"/>
        </a:p>
      </dgm:t>
    </dgm:pt>
    <dgm:pt modelId="{4B2BE091-04B9-47F4-AC46-E284113C30B1}" type="pres">
      <dgm:prSet presAssocID="{EE9D9F26-8635-436E-BBD9-B12ABF7278F9}" presName="composite" presStyleCnt="0"/>
      <dgm:spPr/>
    </dgm:pt>
    <dgm:pt modelId="{3A4B9AB8-FC13-43B1-AE4A-13607B8652E5}" type="pres">
      <dgm:prSet presAssocID="{EE9D9F26-8635-436E-BBD9-B12ABF7278F9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F36AAD-4923-46F0-B244-E5BE169EF670}" type="pres">
      <dgm:prSet presAssocID="{EE9D9F26-8635-436E-BBD9-B12ABF7278F9}" presName="parSh" presStyleLbl="node1" presStyleIdx="3" presStyleCnt="4" custScaleX="119364"/>
      <dgm:spPr/>
      <dgm:t>
        <a:bodyPr/>
        <a:lstStyle/>
        <a:p>
          <a:endParaRPr lang="en-US"/>
        </a:p>
      </dgm:t>
    </dgm:pt>
    <dgm:pt modelId="{7B414E9A-2C9D-402D-977F-025D4319CEF2}" type="pres">
      <dgm:prSet presAssocID="{EE9D9F26-8635-436E-BBD9-B12ABF7278F9}" presName="desTx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942550D-91FE-4167-A3D8-3CE1FE20B4A8}" type="presOf" srcId="{F1F84934-E30F-4FBE-BDFE-46A999FA66C1}" destId="{C9CC5BE0-FF02-4BAB-8C94-7977B81163A0}" srcOrd="0" destOrd="1" presId="urn:microsoft.com/office/officeart/2005/8/layout/process3"/>
    <dgm:cxn modelId="{C79270F2-5164-4DFF-B1E5-0408B43877EC}" srcId="{BBDB0D81-8AF9-414E-A1DB-A5AC4103FDB5}" destId="{F1F84934-E30F-4FBE-BDFE-46A999FA66C1}" srcOrd="1" destOrd="0" parTransId="{05748DC4-0EE7-4673-BF9C-85E01FBC451E}" sibTransId="{78C0301A-9774-41BE-B755-8758498ACE9A}"/>
    <dgm:cxn modelId="{CB305344-29AB-4378-96E5-C7552F1B1984}" srcId="{E52CE4FE-5101-4363-BE90-CE9E5546709B}" destId="{BBDB0D81-8AF9-414E-A1DB-A5AC4103FDB5}" srcOrd="1" destOrd="0" parTransId="{22B1FA41-24DF-4E4C-A85D-FBCBD2750EB6}" sibTransId="{5F690C21-7DFF-4B74-874C-025854F4F3C1}"/>
    <dgm:cxn modelId="{10E30869-E045-4BD4-A848-30CCC1BB01EF}" type="presOf" srcId="{5F690C21-7DFF-4B74-874C-025854F4F3C1}" destId="{528A4162-A7E7-4627-BE03-0336CD6DED16}" srcOrd="0" destOrd="0" presId="urn:microsoft.com/office/officeart/2005/8/layout/process3"/>
    <dgm:cxn modelId="{D34E0167-2981-44B7-9277-BD46AC2F7FC6}" type="presOf" srcId="{5CEB0118-C885-415E-ADC9-509C121AEB4C}" destId="{7B414E9A-2C9D-402D-977F-025D4319CEF2}" srcOrd="0" destOrd="0" presId="urn:microsoft.com/office/officeart/2005/8/layout/process3"/>
    <dgm:cxn modelId="{6EF94FC3-220D-482A-9FB2-1312A4008188}" type="presOf" srcId="{3ABEE49E-ECCE-4E9C-B511-A90050CB2A72}" destId="{A60DA530-A3EA-4999-ACAD-DD1C8DD7AAC1}" srcOrd="0" destOrd="0" presId="urn:microsoft.com/office/officeart/2005/8/layout/process3"/>
    <dgm:cxn modelId="{7F71988F-90EF-45DF-B622-C7109E8FCC46}" type="presOf" srcId="{8E48B8C2-04D5-4554-8E40-5D4B7DA24279}" destId="{1D5B27F6-BAA4-4127-A638-3BA6EC281B2B}" srcOrd="0" destOrd="2" presId="urn:microsoft.com/office/officeart/2005/8/layout/process3"/>
    <dgm:cxn modelId="{32B2F562-050F-4FDD-8F59-1543D55F052D}" type="presOf" srcId="{3ABEE49E-ECCE-4E9C-B511-A90050CB2A72}" destId="{5237726C-F166-4B62-B32E-73D036AE06AE}" srcOrd="1" destOrd="0" presId="urn:microsoft.com/office/officeart/2005/8/layout/process3"/>
    <dgm:cxn modelId="{F2829D5A-5859-4A44-B05B-460E7207A507}" srcId="{D6B2D7D5-452B-47C1-B4C9-A117C79BD508}" destId="{608ABBE3-B192-4EFE-9216-26A48F3316E8}" srcOrd="1" destOrd="0" parTransId="{66A782E6-6F2F-4A9D-8309-300B3B46D02D}" sibTransId="{E2E3DD0D-F701-420A-AE51-BC835BE1C1D4}"/>
    <dgm:cxn modelId="{4ADCD86F-7180-4DC3-A6EF-509CE014BD3A}" type="presOf" srcId="{D6B2D7D5-452B-47C1-B4C9-A117C79BD508}" destId="{D1581F9D-8E9D-4528-A6D9-F99B24E9B56E}" srcOrd="1" destOrd="0" presId="urn:microsoft.com/office/officeart/2005/8/layout/process3"/>
    <dgm:cxn modelId="{5BA32933-A086-4598-B75D-0643A4D5835F}" type="presOf" srcId="{872B4349-7FF0-4204-B270-37E4513E1B93}" destId="{20C69793-8858-4C04-943A-85527612947F}" srcOrd="0" destOrd="0" presId="urn:microsoft.com/office/officeart/2005/8/layout/process3"/>
    <dgm:cxn modelId="{993E940E-9A9D-473B-B31E-E4B64F522EDA}" type="presOf" srcId="{E52CE4FE-5101-4363-BE90-CE9E5546709B}" destId="{68D19932-1EC0-4708-8474-CE0EFB1E6A19}" srcOrd="0" destOrd="0" presId="urn:microsoft.com/office/officeart/2005/8/layout/process3"/>
    <dgm:cxn modelId="{6B589282-8BC5-4F79-9F55-422F7F451B97}" type="presOf" srcId="{5F690C21-7DFF-4B74-874C-025854F4F3C1}" destId="{A87746A9-FDBB-459F-8F84-A15181FACA99}" srcOrd="1" destOrd="0" presId="urn:microsoft.com/office/officeart/2005/8/layout/process3"/>
    <dgm:cxn modelId="{94782CC8-2598-4CFE-8DA9-F5E94CDC50FB}" type="presOf" srcId="{12CDF564-78F2-49CA-AF27-6C333B05B1B4}" destId="{C9CC5BE0-FF02-4BAB-8C94-7977B81163A0}" srcOrd="0" destOrd="4" presId="urn:microsoft.com/office/officeart/2005/8/layout/process3"/>
    <dgm:cxn modelId="{8DD7B5C1-414E-4131-AA7C-E6F4EED1130D}" type="presOf" srcId="{104B2145-1EAC-4F37-8207-3BE8ED6EEED2}" destId="{44100C2F-A97C-490D-BFAE-F45C27BAA8D3}" srcOrd="1" destOrd="0" presId="urn:microsoft.com/office/officeart/2005/8/layout/process3"/>
    <dgm:cxn modelId="{7673D739-1A2C-402E-8945-A4D1E9905DCD}" srcId="{EE9D9F26-8635-436E-BBD9-B12ABF7278F9}" destId="{5CEB0118-C885-415E-ADC9-509C121AEB4C}" srcOrd="0" destOrd="0" parTransId="{B993CF65-3120-40A4-88EF-03E063C2BE68}" sibTransId="{B66FE837-4CF8-425F-AE11-2C3AECD81199}"/>
    <dgm:cxn modelId="{3EEB3849-2412-4324-883D-90308A47FE60}" srcId="{BBDB0D81-8AF9-414E-A1DB-A5AC4103FDB5}" destId="{4E3041E6-148B-4504-A56B-96220BCBB440}" srcOrd="5" destOrd="0" parTransId="{E2E715A0-E54B-4025-9690-1DFB2D7B9D0B}" sibTransId="{DED49E5F-DD69-4751-AB69-C86B308F5640}"/>
    <dgm:cxn modelId="{B2282658-6DDB-46F5-B899-99AB40586260}" type="presOf" srcId="{7732ACF9-EA06-45BC-9112-E8F5520D0647}" destId="{C9CC5BE0-FF02-4BAB-8C94-7977B81163A0}" srcOrd="0" destOrd="2" presId="urn:microsoft.com/office/officeart/2005/8/layout/process3"/>
    <dgm:cxn modelId="{7BC3FCE5-F6D0-4AF7-AAE9-DACBD7B9177F}" type="presOf" srcId="{BBDB0D81-8AF9-414E-A1DB-A5AC4103FDB5}" destId="{83FE394F-FC02-4361-B908-92EFEDFE0032}" srcOrd="1" destOrd="0" presId="urn:microsoft.com/office/officeart/2005/8/layout/process3"/>
    <dgm:cxn modelId="{BFAD215A-250B-4002-8B87-AF3546365D02}" srcId="{BBDB0D81-8AF9-414E-A1DB-A5AC4103FDB5}" destId="{8C315FEA-9509-46C0-9885-2ED0BED60A74}" srcOrd="0" destOrd="0" parTransId="{A6C9F83E-CBD5-4F93-82D8-55D5D95D6559}" sibTransId="{22380D90-AB85-4377-95CB-B73098BD807E}"/>
    <dgm:cxn modelId="{CB1AABE9-D774-4DAE-8092-1057A00F7449}" srcId="{BBDB0D81-8AF9-414E-A1DB-A5AC4103FDB5}" destId="{ABA079BC-E37B-43B2-8C63-15DE108DF92B}" srcOrd="3" destOrd="0" parTransId="{335EBACF-805F-4925-8113-8A5F9E8A410B}" sibTransId="{71A2568F-5B6D-45B1-AAF3-0F621B926499}"/>
    <dgm:cxn modelId="{3A533100-8B50-4E49-8C06-8D7DBE5C34C7}" srcId="{BBDB0D81-8AF9-414E-A1DB-A5AC4103FDB5}" destId="{12CDF564-78F2-49CA-AF27-6C333B05B1B4}" srcOrd="4" destOrd="0" parTransId="{48D8EF31-395F-4BA7-A768-B48EB667D990}" sibTransId="{28E82DFF-507E-4ED1-B712-566DF4F93D2F}"/>
    <dgm:cxn modelId="{B1734BF8-BC2A-43DB-A0AF-BC71251D9C21}" type="presOf" srcId="{D6B2D7D5-452B-47C1-B4C9-A117C79BD508}" destId="{6AB12C44-FACD-40E8-B271-74ED56F0B430}" srcOrd="0" destOrd="0" presId="urn:microsoft.com/office/officeart/2005/8/layout/process3"/>
    <dgm:cxn modelId="{FCCD0A87-764A-4D28-BF7D-75D80A543610}" srcId="{104B2145-1EAC-4F37-8207-3BE8ED6EEED2}" destId="{DE32EF8A-DB06-4376-81DB-DE9BB22F60C9}" srcOrd="2" destOrd="0" parTransId="{D7381147-9FA0-42C0-84BC-AD3CDFB048E4}" sibTransId="{4FBC7782-C7FD-44C8-953F-8D4C4FE6F776}"/>
    <dgm:cxn modelId="{B73BA1F9-38D7-4ED8-917F-12BEB01FE0A9}" type="presOf" srcId="{4E3041E6-148B-4504-A56B-96220BCBB440}" destId="{C9CC5BE0-FF02-4BAB-8C94-7977B81163A0}" srcOrd="0" destOrd="5" presId="urn:microsoft.com/office/officeart/2005/8/layout/process3"/>
    <dgm:cxn modelId="{C6CCF1F5-CBEE-45BE-97BC-2BFEF761492F}" srcId="{104B2145-1EAC-4F37-8207-3BE8ED6EEED2}" destId="{5038E8D5-6D4E-441B-B586-BB5C27D9EB53}" srcOrd="0" destOrd="0" parTransId="{D3BFAF6F-A21B-4E48-B957-DC92CF06469B}" sibTransId="{0D87E3E2-6CCB-4D4F-9D92-E7A862F1C4B4}"/>
    <dgm:cxn modelId="{6E93C319-0DEB-4EEB-BB43-7ACE203F3B7B}" type="presOf" srcId="{104B2145-1EAC-4F37-8207-3BE8ED6EEED2}" destId="{50A7B7C6-7E3B-451D-9C39-9A49D70C83FD}" srcOrd="0" destOrd="0" presId="urn:microsoft.com/office/officeart/2005/8/layout/process3"/>
    <dgm:cxn modelId="{AF679C81-72CC-4401-A8EA-D49FB1867B94}" type="presOf" srcId="{BBDB0D81-8AF9-414E-A1DB-A5AC4103FDB5}" destId="{6FD64467-3B1F-4567-BD27-877A23A88B65}" srcOrd="0" destOrd="0" presId="urn:microsoft.com/office/officeart/2005/8/layout/process3"/>
    <dgm:cxn modelId="{1541708A-6DEB-4C1A-BDB3-887D6A54386F}" type="presOf" srcId="{608ABBE3-B192-4EFE-9216-26A48F3316E8}" destId="{1D5B27F6-BAA4-4127-A638-3BA6EC281B2B}" srcOrd="0" destOrd="1" presId="urn:microsoft.com/office/officeart/2005/8/layout/process3"/>
    <dgm:cxn modelId="{F1499F35-7CB1-4586-94AD-9FD85B5AE021}" type="presOf" srcId="{42A73B6A-85BE-449E-899E-67A03F25ABB1}" destId="{1D5B27F6-BAA4-4127-A638-3BA6EC281B2B}" srcOrd="0" destOrd="0" presId="urn:microsoft.com/office/officeart/2005/8/layout/process3"/>
    <dgm:cxn modelId="{417E495E-0A8C-44C3-A8BA-4CC0E4328194}" type="presOf" srcId="{4F10DF80-2ED3-4D66-9435-F1BE481AD45D}" destId="{8F05A497-9688-4A64-AF37-A73F9987715C}" srcOrd="0" destOrd="1" presId="urn:microsoft.com/office/officeart/2005/8/layout/process3"/>
    <dgm:cxn modelId="{DDE0DF89-7BB7-4285-A8A3-7ADC069E1AF1}" srcId="{104B2145-1EAC-4F37-8207-3BE8ED6EEED2}" destId="{4F10DF80-2ED3-4D66-9435-F1BE481AD45D}" srcOrd="1" destOrd="0" parTransId="{48BCC47A-B83A-4AC6-B761-CB0C3C5BEE35}" sibTransId="{78D9F174-20C9-4809-9018-6DA787D3DAEF}"/>
    <dgm:cxn modelId="{43B3D95C-0A8C-4131-98F0-630EFDB067BD}" type="presOf" srcId="{872B4349-7FF0-4204-B270-37E4513E1B93}" destId="{FB6FD6CD-A476-4900-A0EC-A5C18A53AD9B}" srcOrd="1" destOrd="0" presId="urn:microsoft.com/office/officeart/2005/8/layout/process3"/>
    <dgm:cxn modelId="{94270848-912F-44FD-9280-8BC8B41A1B2F}" type="presOf" srcId="{0BA1E716-F2BA-4A1D-BE7E-79CE594A2798}" destId="{7B414E9A-2C9D-402D-977F-025D4319CEF2}" srcOrd="0" destOrd="1" presId="urn:microsoft.com/office/officeart/2005/8/layout/process3"/>
    <dgm:cxn modelId="{32ACAC69-1AD3-4968-8B02-B0CD669ACDD9}" srcId="{E52CE4FE-5101-4363-BE90-CE9E5546709B}" destId="{104B2145-1EAC-4F37-8207-3BE8ED6EEED2}" srcOrd="2" destOrd="0" parTransId="{FBDA4FFD-A9E2-4C4A-80B2-01D82A08E868}" sibTransId="{872B4349-7FF0-4204-B270-37E4513E1B93}"/>
    <dgm:cxn modelId="{29A70E7F-C48F-4502-98B6-0F1510646BA2}" type="presOf" srcId="{5038E8D5-6D4E-441B-B586-BB5C27D9EB53}" destId="{8F05A497-9688-4A64-AF37-A73F9987715C}" srcOrd="0" destOrd="0" presId="urn:microsoft.com/office/officeart/2005/8/layout/process3"/>
    <dgm:cxn modelId="{CF46D782-5F95-448C-BBA6-2A3F59EC399A}" srcId="{D6B2D7D5-452B-47C1-B4C9-A117C79BD508}" destId="{8E48B8C2-04D5-4554-8E40-5D4B7DA24279}" srcOrd="2" destOrd="0" parTransId="{2C06997B-B512-45DA-8BC9-D315FF76EFA6}" sibTransId="{FD69C876-470C-4A2D-BD52-CB901AF5ACBB}"/>
    <dgm:cxn modelId="{548D16DD-09CF-4885-9458-4F6F5EE83EDD}" srcId="{EE9D9F26-8635-436E-BBD9-B12ABF7278F9}" destId="{0BA1E716-F2BA-4A1D-BE7E-79CE594A2798}" srcOrd="1" destOrd="0" parTransId="{6C3C6FE1-28CD-46C6-A52E-6B60C0277DC4}" sibTransId="{1A192A7C-2D21-4B92-83D7-E13646BA8A32}"/>
    <dgm:cxn modelId="{90FC92BE-10CA-4F2B-9069-034EEEEED01C}" srcId="{E52CE4FE-5101-4363-BE90-CE9E5546709B}" destId="{EE9D9F26-8635-436E-BBD9-B12ABF7278F9}" srcOrd="3" destOrd="0" parTransId="{B90460AA-44BD-4D9F-81C6-C49F41220E55}" sibTransId="{C13A445F-F090-4845-A97E-EA82C265429F}"/>
    <dgm:cxn modelId="{2A1FCC28-B3F0-4772-B181-524A75FEB8DF}" type="presOf" srcId="{8C315FEA-9509-46C0-9885-2ED0BED60A74}" destId="{C9CC5BE0-FF02-4BAB-8C94-7977B81163A0}" srcOrd="0" destOrd="0" presId="urn:microsoft.com/office/officeart/2005/8/layout/process3"/>
    <dgm:cxn modelId="{20B06B77-E21A-4751-BA60-89EDCDBB88E4}" type="presOf" srcId="{1F7FFD02-079E-4591-9972-5F1967E883F8}" destId="{7B414E9A-2C9D-402D-977F-025D4319CEF2}" srcOrd="0" destOrd="2" presId="urn:microsoft.com/office/officeart/2005/8/layout/process3"/>
    <dgm:cxn modelId="{4694C62B-9AA0-4D6F-B9B3-144B1102451F}" type="presOf" srcId="{EE9D9F26-8635-436E-BBD9-B12ABF7278F9}" destId="{3A4B9AB8-FC13-43B1-AE4A-13607B8652E5}" srcOrd="0" destOrd="0" presId="urn:microsoft.com/office/officeart/2005/8/layout/process3"/>
    <dgm:cxn modelId="{51A673B9-782E-4735-9DFC-FECCCCA46956}" type="presOf" srcId="{EE9D9F26-8635-436E-BBD9-B12ABF7278F9}" destId="{16F36AAD-4923-46F0-B244-E5BE169EF670}" srcOrd="1" destOrd="0" presId="urn:microsoft.com/office/officeart/2005/8/layout/process3"/>
    <dgm:cxn modelId="{BBD2AE42-A6DD-4A5B-B4F2-F8A883CE9715}" type="presOf" srcId="{DE32EF8A-DB06-4376-81DB-DE9BB22F60C9}" destId="{8F05A497-9688-4A64-AF37-A73F9987715C}" srcOrd="0" destOrd="2" presId="urn:microsoft.com/office/officeart/2005/8/layout/process3"/>
    <dgm:cxn modelId="{7A2156CE-85AB-422B-9CA0-E14B558EA0BA}" srcId="{EE9D9F26-8635-436E-BBD9-B12ABF7278F9}" destId="{1F7FFD02-079E-4591-9972-5F1967E883F8}" srcOrd="2" destOrd="0" parTransId="{18DB1CF3-8A83-4FC4-B931-1D65E5D02BDF}" sibTransId="{C5039154-5136-470F-AFF6-4E33B07E53C7}"/>
    <dgm:cxn modelId="{277EAE8D-83F0-4833-AE29-BF9E09067D7B}" type="presOf" srcId="{ABA079BC-E37B-43B2-8C63-15DE108DF92B}" destId="{C9CC5BE0-FF02-4BAB-8C94-7977B81163A0}" srcOrd="0" destOrd="3" presId="urn:microsoft.com/office/officeart/2005/8/layout/process3"/>
    <dgm:cxn modelId="{49B05A07-8A0C-4DD1-905C-2B4D080F4C71}" srcId="{BBDB0D81-8AF9-414E-A1DB-A5AC4103FDB5}" destId="{7732ACF9-EA06-45BC-9112-E8F5520D0647}" srcOrd="2" destOrd="0" parTransId="{E7024C96-BFE6-4EC5-89A6-361BD2E82505}" sibTransId="{7A8BE986-DDD5-4695-8CE0-EE49A84DDCED}"/>
    <dgm:cxn modelId="{6439736B-9621-4016-994B-89741688E68C}" srcId="{E52CE4FE-5101-4363-BE90-CE9E5546709B}" destId="{D6B2D7D5-452B-47C1-B4C9-A117C79BD508}" srcOrd="0" destOrd="0" parTransId="{36816A4F-4A93-4498-9479-7ECACD3DD23F}" sibTransId="{3ABEE49E-ECCE-4E9C-B511-A90050CB2A72}"/>
    <dgm:cxn modelId="{49ACFD07-309E-49C8-8D13-8BBA892ECFAD}" srcId="{D6B2D7D5-452B-47C1-B4C9-A117C79BD508}" destId="{42A73B6A-85BE-449E-899E-67A03F25ABB1}" srcOrd="0" destOrd="0" parTransId="{85311FDE-0994-4D8B-AD85-4D03D5CC8252}" sibTransId="{6E56EB87-A3CA-4F3C-8DF5-AA055DE043C1}"/>
    <dgm:cxn modelId="{028292D1-2D25-47CD-A96A-0A72A2716B1A}" type="presParOf" srcId="{68D19932-1EC0-4708-8474-CE0EFB1E6A19}" destId="{2E5C56FC-D98F-4EDA-9279-74E63BFAB2DD}" srcOrd="0" destOrd="0" presId="urn:microsoft.com/office/officeart/2005/8/layout/process3"/>
    <dgm:cxn modelId="{BE672AD0-C940-4845-874B-6E36B89D1B80}" type="presParOf" srcId="{2E5C56FC-D98F-4EDA-9279-74E63BFAB2DD}" destId="{6AB12C44-FACD-40E8-B271-74ED56F0B430}" srcOrd="0" destOrd="0" presId="urn:microsoft.com/office/officeart/2005/8/layout/process3"/>
    <dgm:cxn modelId="{1FCEBFAD-0C45-4BB1-B8F4-82B375DC2B25}" type="presParOf" srcId="{2E5C56FC-D98F-4EDA-9279-74E63BFAB2DD}" destId="{D1581F9D-8E9D-4528-A6D9-F99B24E9B56E}" srcOrd="1" destOrd="0" presId="urn:microsoft.com/office/officeart/2005/8/layout/process3"/>
    <dgm:cxn modelId="{4DD5AF3D-9DED-4D21-9316-C1964B13273B}" type="presParOf" srcId="{2E5C56FC-D98F-4EDA-9279-74E63BFAB2DD}" destId="{1D5B27F6-BAA4-4127-A638-3BA6EC281B2B}" srcOrd="2" destOrd="0" presId="urn:microsoft.com/office/officeart/2005/8/layout/process3"/>
    <dgm:cxn modelId="{82032476-EE98-44A0-9395-1ACB982DE9F6}" type="presParOf" srcId="{68D19932-1EC0-4708-8474-CE0EFB1E6A19}" destId="{A60DA530-A3EA-4999-ACAD-DD1C8DD7AAC1}" srcOrd="1" destOrd="0" presId="urn:microsoft.com/office/officeart/2005/8/layout/process3"/>
    <dgm:cxn modelId="{7EF79530-2138-4E3F-AA41-2391FE4B470D}" type="presParOf" srcId="{A60DA530-A3EA-4999-ACAD-DD1C8DD7AAC1}" destId="{5237726C-F166-4B62-B32E-73D036AE06AE}" srcOrd="0" destOrd="0" presId="urn:microsoft.com/office/officeart/2005/8/layout/process3"/>
    <dgm:cxn modelId="{705A35BF-5EE8-4EA8-968A-84FFA1159D33}" type="presParOf" srcId="{68D19932-1EC0-4708-8474-CE0EFB1E6A19}" destId="{157D4293-058E-4541-B3C2-9B0B017DF44D}" srcOrd="2" destOrd="0" presId="urn:microsoft.com/office/officeart/2005/8/layout/process3"/>
    <dgm:cxn modelId="{11FBB4EE-3B7B-4560-9A86-F415CDD94201}" type="presParOf" srcId="{157D4293-058E-4541-B3C2-9B0B017DF44D}" destId="{6FD64467-3B1F-4567-BD27-877A23A88B65}" srcOrd="0" destOrd="0" presId="urn:microsoft.com/office/officeart/2005/8/layout/process3"/>
    <dgm:cxn modelId="{068EF024-8F42-403F-9482-5B7DED598931}" type="presParOf" srcId="{157D4293-058E-4541-B3C2-9B0B017DF44D}" destId="{83FE394F-FC02-4361-B908-92EFEDFE0032}" srcOrd="1" destOrd="0" presId="urn:microsoft.com/office/officeart/2005/8/layout/process3"/>
    <dgm:cxn modelId="{3CCDED93-F777-4708-8D3E-D6430E424C23}" type="presParOf" srcId="{157D4293-058E-4541-B3C2-9B0B017DF44D}" destId="{C9CC5BE0-FF02-4BAB-8C94-7977B81163A0}" srcOrd="2" destOrd="0" presId="urn:microsoft.com/office/officeart/2005/8/layout/process3"/>
    <dgm:cxn modelId="{B323C25E-F1A2-4EEA-A0ED-A050FCE37B3D}" type="presParOf" srcId="{68D19932-1EC0-4708-8474-CE0EFB1E6A19}" destId="{528A4162-A7E7-4627-BE03-0336CD6DED16}" srcOrd="3" destOrd="0" presId="urn:microsoft.com/office/officeart/2005/8/layout/process3"/>
    <dgm:cxn modelId="{9D22E149-0AC8-464B-953A-FA34CD81C5FB}" type="presParOf" srcId="{528A4162-A7E7-4627-BE03-0336CD6DED16}" destId="{A87746A9-FDBB-459F-8F84-A15181FACA99}" srcOrd="0" destOrd="0" presId="urn:microsoft.com/office/officeart/2005/8/layout/process3"/>
    <dgm:cxn modelId="{2CF255CE-66A8-4491-8116-A024C8519307}" type="presParOf" srcId="{68D19932-1EC0-4708-8474-CE0EFB1E6A19}" destId="{EBC3E070-5C89-4A40-B67D-62C1DD9AE827}" srcOrd="4" destOrd="0" presId="urn:microsoft.com/office/officeart/2005/8/layout/process3"/>
    <dgm:cxn modelId="{4BEFAED1-5D75-40DB-8F86-2B0C1BD0FA80}" type="presParOf" srcId="{EBC3E070-5C89-4A40-B67D-62C1DD9AE827}" destId="{50A7B7C6-7E3B-451D-9C39-9A49D70C83FD}" srcOrd="0" destOrd="0" presId="urn:microsoft.com/office/officeart/2005/8/layout/process3"/>
    <dgm:cxn modelId="{33A5D2F2-4660-4A96-9CE1-D7497FC04532}" type="presParOf" srcId="{EBC3E070-5C89-4A40-B67D-62C1DD9AE827}" destId="{44100C2F-A97C-490D-BFAE-F45C27BAA8D3}" srcOrd="1" destOrd="0" presId="urn:microsoft.com/office/officeart/2005/8/layout/process3"/>
    <dgm:cxn modelId="{5234AE3D-DBD8-402B-BB0F-83738C7830D6}" type="presParOf" srcId="{EBC3E070-5C89-4A40-B67D-62C1DD9AE827}" destId="{8F05A497-9688-4A64-AF37-A73F9987715C}" srcOrd="2" destOrd="0" presId="urn:microsoft.com/office/officeart/2005/8/layout/process3"/>
    <dgm:cxn modelId="{528E13E5-1E76-4B5E-BEAE-01D535167EED}" type="presParOf" srcId="{68D19932-1EC0-4708-8474-CE0EFB1E6A19}" destId="{20C69793-8858-4C04-943A-85527612947F}" srcOrd="5" destOrd="0" presId="urn:microsoft.com/office/officeart/2005/8/layout/process3"/>
    <dgm:cxn modelId="{CEDC0AB4-6C85-408C-A5B5-0B8A1F09BC8D}" type="presParOf" srcId="{20C69793-8858-4C04-943A-85527612947F}" destId="{FB6FD6CD-A476-4900-A0EC-A5C18A53AD9B}" srcOrd="0" destOrd="0" presId="urn:microsoft.com/office/officeart/2005/8/layout/process3"/>
    <dgm:cxn modelId="{56148E5D-FB33-4D4A-9E23-6099759D94D5}" type="presParOf" srcId="{68D19932-1EC0-4708-8474-CE0EFB1E6A19}" destId="{4B2BE091-04B9-47F4-AC46-E284113C30B1}" srcOrd="6" destOrd="0" presId="urn:microsoft.com/office/officeart/2005/8/layout/process3"/>
    <dgm:cxn modelId="{2D805E16-AC65-4098-93B6-29FBE1D7674F}" type="presParOf" srcId="{4B2BE091-04B9-47F4-AC46-E284113C30B1}" destId="{3A4B9AB8-FC13-43B1-AE4A-13607B8652E5}" srcOrd="0" destOrd="0" presId="urn:microsoft.com/office/officeart/2005/8/layout/process3"/>
    <dgm:cxn modelId="{784D6C3F-5969-4F29-A58A-959875A7F75A}" type="presParOf" srcId="{4B2BE091-04B9-47F4-AC46-E284113C30B1}" destId="{16F36AAD-4923-46F0-B244-E5BE169EF670}" srcOrd="1" destOrd="0" presId="urn:microsoft.com/office/officeart/2005/8/layout/process3"/>
    <dgm:cxn modelId="{309CEEA2-9A06-4C58-BD5D-585541B0B9B7}" type="presParOf" srcId="{4B2BE091-04B9-47F4-AC46-E284113C30B1}" destId="{7B414E9A-2C9D-402D-977F-025D4319CEF2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81F9D-8E9D-4528-A6D9-F99B24E9B56E}">
      <dsp:nvSpPr>
        <dsp:cNvPr id="0" name=""/>
        <dsp:cNvSpPr/>
      </dsp:nvSpPr>
      <dsp:spPr>
        <a:xfrm>
          <a:off x="1370" y="548963"/>
          <a:ext cx="1399571" cy="554943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Stage 1</a:t>
          </a:r>
        </a:p>
      </dsp:txBody>
      <dsp:txXfrm>
        <a:off x="12206" y="559799"/>
        <a:ext cx="1377899" cy="348290"/>
      </dsp:txXfrm>
    </dsp:sp>
    <dsp:sp modelId="{1D5B27F6-BAA4-4127-A638-3BA6EC281B2B}">
      <dsp:nvSpPr>
        <dsp:cNvPr id="0" name=""/>
        <dsp:cNvSpPr/>
      </dsp:nvSpPr>
      <dsp:spPr>
        <a:xfrm>
          <a:off x="288029" y="918925"/>
          <a:ext cx="1399571" cy="301702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Completed Nov 17'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Recommendation to proceed to Stage 2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329021" y="959917"/>
        <a:ext cx="1317587" cy="2935041"/>
      </dsp:txXfrm>
    </dsp:sp>
    <dsp:sp modelId="{A60DA530-A3EA-4999-ACAD-DD1C8DD7AAC1}">
      <dsp:nvSpPr>
        <dsp:cNvPr id="0" name=""/>
        <dsp:cNvSpPr/>
      </dsp:nvSpPr>
      <dsp:spPr>
        <a:xfrm>
          <a:off x="1613112" y="559718"/>
          <a:ext cx="449800" cy="34845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1613112" y="629408"/>
        <a:ext cx="345264" cy="209072"/>
      </dsp:txXfrm>
    </dsp:sp>
    <dsp:sp modelId="{83FE394F-FC02-4361-B908-92EFEDFE0032}">
      <dsp:nvSpPr>
        <dsp:cNvPr id="0" name=""/>
        <dsp:cNvSpPr/>
      </dsp:nvSpPr>
      <dsp:spPr>
        <a:xfrm>
          <a:off x="2249622" y="548963"/>
          <a:ext cx="1399571" cy="554943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Stage 2</a:t>
          </a:r>
        </a:p>
      </dsp:txBody>
      <dsp:txXfrm>
        <a:off x="2260458" y="559799"/>
        <a:ext cx="1377899" cy="348290"/>
      </dsp:txXfrm>
    </dsp:sp>
    <dsp:sp modelId="{C9CC5BE0-FF02-4BAB-8C94-7977B81163A0}">
      <dsp:nvSpPr>
        <dsp:cNvPr id="0" name=""/>
        <dsp:cNvSpPr/>
      </dsp:nvSpPr>
      <dsp:spPr>
        <a:xfrm>
          <a:off x="2536281" y="918925"/>
          <a:ext cx="1399571" cy="301702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Full MTA to </a:t>
          </a:r>
          <a:r>
            <a:rPr lang="en-US" sz="1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be completed before the end of Dec 17'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MTA will inlcude extra channels from stage 1 (Natural Search, email and affiliate site split)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Build 'Optimum' , the web application optimisation tool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Begin integration of MTA results</a:t>
          </a:r>
          <a:endParaRPr lang="en-US" sz="11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2577273" y="959917"/>
        <a:ext cx="1317587" cy="2935041"/>
      </dsp:txXfrm>
    </dsp:sp>
    <dsp:sp modelId="{528A4162-A7E7-4627-BE03-0336CD6DED16}">
      <dsp:nvSpPr>
        <dsp:cNvPr id="0" name=""/>
        <dsp:cNvSpPr/>
      </dsp:nvSpPr>
      <dsp:spPr>
        <a:xfrm>
          <a:off x="3861364" y="559718"/>
          <a:ext cx="449800" cy="34845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861364" y="629408"/>
        <a:ext cx="345264" cy="209072"/>
      </dsp:txXfrm>
    </dsp:sp>
    <dsp:sp modelId="{44100C2F-A97C-490D-BFAE-F45C27BAA8D3}">
      <dsp:nvSpPr>
        <dsp:cNvPr id="0" name=""/>
        <dsp:cNvSpPr/>
      </dsp:nvSpPr>
      <dsp:spPr>
        <a:xfrm>
          <a:off x="4497874" y="548963"/>
          <a:ext cx="1399571" cy="554943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Test </a:t>
          </a:r>
        </a:p>
      </dsp:txBody>
      <dsp:txXfrm>
        <a:off x="4508710" y="559799"/>
        <a:ext cx="1377899" cy="348290"/>
      </dsp:txXfrm>
    </dsp:sp>
    <dsp:sp modelId="{8F05A497-9688-4A64-AF37-A73F9987715C}">
      <dsp:nvSpPr>
        <dsp:cNvPr id="0" name=""/>
        <dsp:cNvSpPr/>
      </dsp:nvSpPr>
      <dsp:spPr>
        <a:xfrm>
          <a:off x="4808340" y="877230"/>
          <a:ext cx="1399571" cy="301702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Test will begin in January alongside normal planning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Test will show the results (CPA) of what could have been achieved if the MTA recommendations had been implemented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849332" y="918222"/>
        <a:ext cx="1317587" cy="2935041"/>
      </dsp:txXfrm>
    </dsp:sp>
    <dsp:sp modelId="{20C69793-8858-4C04-943A-85527612947F}">
      <dsp:nvSpPr>
        <dsp:cNvPr id="0" name=""/>
        <dsp:cNvSpPr/>
      </dsp:nvSpPr>
      <dsp:spPr>
        <a:xfrm>
          <a:off x="6109615" y="559718"/>
          <a:ext cx="449800" cy="34845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6109615" y="629408"/>
        <a:ext cx="345264" cy="209072"/>
      </dsp:txXfrm>
    </dsp:sp>
    <dsp:sp modelId="{16F36AAD-4923-46F0-B244-E5BE169EF670}">
      <dsp:nvSpPr>
        <dsp:cNvPr id="0" name=""/>
        <dsp:cNvSpPr/>
      </dsp:nvSpPr>
      <dsp:spPr>
        <a:xfrm>
          <a:off x="6746126" y="548963"/>
          <a:ext cx="1670584" cy="554943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Integration</a:t>
          </a:r>
        </a:p>
      </dsp:txBody>
      <dsp:txXfrm>
        <a:off x="6756962" y="559799"/>
        <a:ext cx="1648912" cy="348290"/>
      </dsp:txXfrm>
    </dsp:sp>
    <dsp:sp modelId="{7B414E9A-2C9D-402D-977F-025D4319CEF2}">
      <dsp:nvSpPr>
        <dsp:cNvPr id="0" name=""/>
        <dsp:cNvSpPr/>
      </dsp:nvSpPr>
      <dsp:spPr>
        <a:xfrm>
          <a:off x="7168291" y="918925"/>
          <a:ext cx="1399571" cy="301702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Once the test has been proved successful we will move to full integration of MTA and 'Optimum' into digital spend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Q2 2018 auto integration for DoubleClick search and ongoing development will be </a:t>
          </a:r>
          <a:r>
            <a:rPr lang="en-US" sz="1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implemented</a:t>
          </a:r>
          <a:endParaRPr lang="en-US" sz="11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7209283" y="959917"/>
        <a:ext cx="1317587" cy="29350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0.52304</cdr:x>
      <cdr:y>0.37673</cdr:y>
    </cdr:from>
    <cdr:to>
      <cdr:x>0.6642</cdr:x>
      <cdr:y>0.49769</cdr:y>
    </cdr:to>
    <cdr:sp macro="" textlink="">
      <cdr:nvSpPr>
        <cdr:cNvPr id="2" name="Right Arrow 1"/>
        <cdr:cNvSpPr/>
      </cdr:nvSpPr>
      <cdr:spPr>
        <a:xfrm xmlns:a="http://schemas.openxmlformats.org/drawingml/2006/main" rot="19270246">
          <a:off x="2391353" y="1033454"/>
          <a:ext cx="645362" cy="331822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C00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6997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3996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0993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7990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4989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1986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98984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5982" algn="l" defTabSz="913996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sz="1200" smtClean="0">
            <a:solidFill>
              <a:schemeClr val="bg1"/>
            </a:solidFill>
            <a:latin typeface="+mj-lt"/>
          </a:endParaRPr>
        </a:p>
      </cdr:txBody>
    </cdr:sp>
  </cdr:relSizeAnchor>
  <cdr:relSizeAnchor xmlns:cdr="http://schemas.openxmlformats.org/drawingml/2006/chartDrawing">
    <cdr:from>
      <cdr:x>0.33175</cdr:x>
      <cdr:y>0.29194</cdr:y>
    </cdr:from>
    <cdr:to>
      <cdr:x>0.57748</cdr:x>
      <cdr:y>0.46023</cdr:y>
    </cdr:to>
    <cdr:sp macro="" textlink="">
      <cdr:nvSpPr>
        <cdr:cNvPr id="3" name="TextBox 10"/>
        <cdr:cNvSpPr txBox="1"/>
      </cdr:nvSpPr>
      <cdr:spPr>
        <a:xfrm xmlns:a="http://schemas.openxmlformats.org/drawingml/2006/main">
          <a:off x="1516751" y="800837"/>
          <a:ext cx="1123469" cy="46166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6997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3996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0993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7990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4989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1986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198984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5982" algn="l" defTabSz="913996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200" dirty="0" smtClean="0"/>
            <a:t>14% Average Increase</a:t>
          </a:r>
          <a:endParaRPr lang="en-US" sz="12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4283" cy="49829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6" y="1"/>
            <a:ext cx="2944283" cy="49829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719F5A2B-643B-4B44-8AF1-C922AE679B94}" type="datetimeFigureOut">
              <a:rPr lang="en-US" smtClean="0"/>
              <a:t>7/9/2018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33107"/>
            <a:ext cx="2944283" cy="498294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6" y="9433107"/>
            <a:ext cx="2944283" cy="498294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2C6E3ADF-4783-7C4E-9A48-A1C8A78B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20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6570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>
                <a:latin typeface="Franklin Gothic Book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6" y="0"/>
            <a:ext cx="2944283" cy="496570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>
                <a:latin typeface="Franklin Gothic Book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7/9/2018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6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6"/>
            <a:ext cx="5435600" cy="4469130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3107"/>
            <a:ext cx="2944283" cy="496570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>
                <a:latin typeface="Franklin Gothic Book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6" y="9433107"/>
            <a:ext cx="2944283" cy="496570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>
                <a:latin typeface="Franklin Gothic Book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6997" rtl="0" eaLnBrk="1" latinLnBrk="0" hangingPunct="1">
      <a:defRPr sz="1199" kern="1200">
        <a:solidFill>
          <a:schemeClr val="tx1"/>
        </a:solidFill>
        <a:latin typeface="Franklin Gothic Book" charset="0"/>
        <a:ea typeface="+mn-ea"/>
        <a:cs typeface="+mn-cs"/>
      </a:defRPr>
    </a:lvl1pPr>
    <a:lvl2pPr marL="456997" algn="l" defTabSz="456997" rtl="0" eaLnBrk="1" latinLnBrk="0" hangingPunct="1">
      <a:defRPr sz="1199" kern="1200">
        <a:solidFill>
          <a:schemeClr val="tx1"/>
        </a:solidFill>
        <a:latin typeface="Franklin Gothic Book" charset="0"/>
        <a:ea typeface="+mn-ea"/>
        <a:cs typeface="+mn-cs"/>
      </a:defRPr>
    </a:lvl2pPr>
    <a:lvl3pPr marL="913996" algn="l" defTabSz="456997" rtl="0" eaLnBrk="1" latinLnBrk="0" hangingPunct="1">
      <a:defRPr sz="1199" kern="1200">
        <a:solidFill>
          <a:schemeClr val="tx1"/>
        </a:solidFill>
        <a:latin typeface="Franklin Gothic Book" charset="0"/>
        <a:ea typeface="+mn-ea"/>
        <a:cs typeface="+mn-cs"/>
      </a:defRPr>
    </a:lvl3pPr>
    <a:lvl4pPr marL="1370993" algn="l" defTabSz="456997" rtl="0" eaLnBrk="1" latinLnBrk="0" hangingPunct="1">
      <a:defRPr sz="1199" kern="1200">
        <a:solidFill>
          <a:schemeClr val="tx1"/>
        </a:solidFill>
        <a:latin typeface="Franklin Gothic Book" charset="0"/>
        <a:ea typeface="+mn-ea"/>
        <a:cs typeface="+mn-cs"/>
      </a:defRPr>
    </a:lvl4pPr>
    <a:lvl5pPr marL="1827990" algn="l" defTabSz="456997" rtl="0" eaLnBrk="1" latinLnBrk="0" hangingPunct="1">
      <a:defRPr sz="1199" kern="1200">
        <a:solidFill>
          <a:schemeClr val="tx1"/>
        </a:solidFill>
        <a:latin typeface="Franklin Gothic Book" charset="0"/>
        <a:ea typeface="+mn-ea"/>
        <a:cs typeface="+mn-cs"/>
      </a:defRPr>
    </a:lvl5pPr>
    <a:lvl6pPr marL="2284989" algn="l" defTabSz="4569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1986" algn="l" defTabSz="4569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8984" algn="l" defTabSz="4569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5982" algn="l" defTabSz="4569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679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103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067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788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403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563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096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845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54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842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506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C8CD8-010B-4E5E-B7CD-A08D3E5B388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400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1387" y="3393143"/>
            <a:ext cx="5159322" cy="34648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61" y="2295503"/>
            <a:ext cx="6283858" cy="1121703"/>
          </a:xfrm>
        </p:spPr>
        <p:txBody>
          <a:bodyPr rIns="91440" bIns="0">
            <a:normAutofit/>
          </a:bodyPr>
          <a:lstStyle>
            <a:lvl1pPr>
              <a:defRPr sz="3600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322729" y="5889812"/>
            <a:ext cx="1425389" cy="9681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082290" y="3429000"/>
            <a:ext cx="6292850" cy="831850"/>
          </a:xfrm>
        </p:spPr>
        <p:txBody>
          <a:bodyPr tIns="91440" rIns="91440">
            <a:normAutofit/>
          </a:bodyPr>
          <a:lstStyle>
            <a:lvl1pPr>
              <a:defRPr sz="1200" spc="3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440" y="2562546"/>
            <a:ext cx="2322784" cy="1641583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5064872" y="3429000"/>
            <a:ext cx="6284047" cy="0"/>
          </a:xfrm>
          <a:prstGeom prst="line">
            <a:avLst/>
          </a:prstGeom>
          <a:ln w="15875">
            <a:solidFill>
              <a:srgbClr val="BA97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6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22729" y="5889812"/>
            <a:ext cx="1425389" cy="968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65061" y="2307535"/>
            <a:ext cx="6283858" cy="1121703"/>
          </a:xfrm>
        </p:spPr>
        <p:txBody>
          <a:bodyPr bIns="0">
            <a:normAutofit/>
          </a:bodyPr>
          <a:lstStyle>
            <a:lvl1pPr>
              <a:defRPr sz="36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090999" y="3441032"/>
            <a:ext cx="6292850" cy="831850"/>
          </a:xfrm>
        </p:spPr>
        <p:txBody>
          <a:bodyPr tIns="91440">
            <a:normAutofit/>
          </a:bodyPr>
          <a:lstStyle>
            <a:lvl1pPr>
              <a:defRPr sz="12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5064872" y="3429000"/>
            <a:ext cx="6284047" cy="0"/>
          </a:xfrm>
          <a:prstGeom prst="line">
            <a:avLst/>
          </a:prstGeom>
          <a:ln w="15875">
            <a:solidFill>
              <a:srgbClr val="BA97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1387" y="3393143"/>
            <a:ext cx="5159322" cy="346485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513" y="2467219"/>
            <a:ext cx="3066857" cy="194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0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1872" userDrawn="1">
          <p15:clr>
            <a:srgbClr val="FBAE40"/>
          </p15:clr>
        </p15:guide>
        <p15:guide id="2" pos="326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py, centered"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245949" y="2105827"/>
            <a:ext cx="9723438" cy="1485188"/>
          </a:xfrm>
        </p:spPr>
        <p:txBody>
          <a:bodyPr anchor="b" anchorCtr="0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373200" y="4087813"/>
            <a:ext cx="5468937" cy="1951037"/>
          </a:xfrm>
        </p:spPr>
        <p:txBody>
          <a:bodyPr tIns="0">
            <a:normAutofit/>
          </a:bodyPr>
          <a:lstStyle>
            <a:lvl1pPr algn="ctr">
              <a:lnSpc>
                <a:spcPct val="150000"/>
              </a:lnSpc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1183815" y="6449517"/>
            <a:ext cx="478868" cy="169259"/>
          </a:xfrm>
          <a:prstGeom prst="rect">
            <a:avLst/>
          </a:prstGeom>
          <a:noFill/>
        </p:spPr>
        <p:txBody>
          <a:bodyPr wrap="square" lIns="91422" tIns="45711" rIns="0" bIns="45711" rtlCol="0">
            <a:spAutoFit/>
          </a:bodyPr>
          <a:lstStyle/>
          <a:p>
            <a:pPr algn="r"/>
            <a:fld id="{260E2A6B-A809-4840-BF14-8648BC0BDF87}" type="slidenum">
              <a:rPr lang="id-ID" sz="500" b="0" i="0" smtClean="0">
                <a:solidFill>
                  <a:schemeClr val="bg1">
                    <a:lumMod val="95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pPr algn="r"/>
              <a:t>‹#›</a:t>
            </a:fld>
            <a:r>
              <a:rPr lang="id-ID" sz="500" b="0" i="0" dirty="0" smtClean="0">
                <a:solidFill>
                  <a:schemeClr val="bg1">
                    <a:lumMod val="95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  </a:t>
            </a:r>
            <a:endParaRPr lang="id-ID" sz="500" b="0" i="0" dirty="0">
              <a:solidFill>
                <a:schemeClr val="bg1">
                  <a:lumMod val="95000"/>
                </a:schemeClr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721629" y="3831016"/>
            <a:ext cx="2709949" cy="0"/>
          </a:xfrm>
          <a:prstGeom prst="line">
            <a:avLst/>
          </a:prstGeom>
          <a:ln w="28575">
            <a:solidFill>
              <a:srgbClr val="BA97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430306" y="5952565"/>
            <a:ext cx="968188" cy="9054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54" y="5865381"/>
            <a:ext cx="1254365" cy="8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2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| Big Ideas 2"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77091" y="5902036"/>
            <a:ext cx="913534" cy="9559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430306" y="5952565"/>
            <a:ext cx="968188" cy="9054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"/>
          <a:stretch/>
        </p:blipFill>
        <p:spPr>
          <a:xfrm>
            <a:off x="53787" y="3923923"/>
            <a:ext cx="12211127" cy="2934077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190625" y="1131888"/>
            <a:ext cx="9723438" cy="4572000"/>
          </a:xfrm>
        </p:spPr>
        <p:txBody>
          <a:bodyPr bIns="1097280" anchor="ctr" anchorCtr="0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1183815" y="6449517"/>
            <a:ext cx="478868" cy="169259"/>
          </a:xfrm>
          <a:prstGeom prst="rect">
            <a:avLst/>
          </a:prstGeom>
          <a:noFill/>
        </p:spPr>
        <p:txBody>
          <a:bodyPr wrap="square" lIns="91422" tIns="45711" rIns="0" bIns="45711" rtlCol="0">
            <a:spAutoFit/>
          </a:bodyPr>
          <a:lstStyle/>
          <a:p>
            <a:pPr algn="r"/>
            <a:fld id="{260E2A6B-A809-4840-BF14-8648BC0BDF87}" type="slidenum">
              <a:rPr lang="id-ID" sz="500" b="0" i="0" smtClean="0">
                <a:solidFill>
                  <a:schemeClr val="bg1">
                    <a:lumMod val="95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pPr algn="r"/>
              <a:t>‹#›</a:t>
            </a:fld>
            <a:r>
              <a:rPr lang="id-ID" sz="500" b="0" i="0" dirty="0" smtClean="0">
                <a:solidFill>
                  <a:schemeClr val="bg1">
                    <a:lumMod val="95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  </a:t>
            </a:r>
            <a:endParaRPr lang="id-ID" sz="500" b="0" i="0" dirty="0">
              <a:solidFill>
                <a:schemeClr val="bg1">
                  <a:lumMod val="95000"/>
                </a:schemeClr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54" y="5865381"/>
            <a:ext cx="1254365" cy="8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1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areas with titl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481330" y="2057400"/>
            <a:ext cx="4125840" cy="667871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algn="ctr"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6590280" y="2057400"/>
            <a:ext cx="4117217" cy="667871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algn="ctr"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481330" y="2862470"/>
            <a:ext cx="4125840" cy="2779529"/>
          </a:xfrm>
        </p:spPr>
        <p:txBody>
          <a:bodyPr anchor="t" anchorCtr="0">
            <a:normAutofit/>
          </a:bodyPr>
          <a:lstStyle>
            <a:lvl1pPr algn="ctr">
              <a:defRPr sz="1600"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590280" y="2862471"/>
            <a:ext cx="4117217" cy="2779529"/>
          </a:xfrm>
        </p:spPr>
        <p:txBody>
          <a:bodyPr anchor="t" anchorCtr="0">
            <a:normAutofit/>
          </a:bodyPr>
          <a:lstStyle>
            <a:lvl1pPr algn="ctr">
              <a:defRPr sz="1600"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13" name="Title Placeholder 3"/>
          <p:cNvSpPr>
            <a:spLocks noGrp="1"/>
          </p:cNvSpPr>
          <p:nvPr>
            <p:ph type="title"/>
          </p:nvPr>
        </p:nvSpPr>
        <p:spPr>
          <a:xfrm>
            <a:off x="1481330" y="362610"/>
            <a:ext cx="9226168" cy="11217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481329" y="1486827"/>
            <a:ext cx="9226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86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led title +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3727865" y="0"/>
            <a:ext cx="846096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1">
                <a:latin typeface="Franklin Gothic Book" charset="0"/>
              </a:defRPr>
            </a:lvl1pPr>
          </a:lstStyle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" y="0"/>
            <a:ext cx="372786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449316" y="968973"/>
            <a:ext cx="2829234" cy="11217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449679" y="2449513"/>
            <a:ext cx="2828872" cy="3322032"/>
          </a:xfrm>
        </p:spPr>
        <p:txBody>
          <a:bodyPr lIns="9144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54" y="5865381"/>
            <a:ext cx="1254365" cy="8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4" y="0"/>
            <a:ext cx="8430604" cy="6635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/>
          <a:lstStyle/>
          <a:p>
            <a:fld id="{87128716-1C68-4264-9677-FF1FBE954D2A}" type="datetime1">
              <a:rPr lang="en-GB" smtClean="0"/>
              <a:t>09/07/2018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4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3"/>
          <p:cNvSpPr>
            <a:spLocks noGrp="1"/>
          </p:cNvSpPr>
          <p:nvPr>
            <p:ph type="title"/>
          </p:nvPr>
        </p:nvSpPr>
        <p:spPr>
          <a:xfrm>
            <a:off x="1481329" y="365124"/>
            <a:ext cx="9226168" cy="11217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81329" y="1486827"/>
            <a:ext cx="9226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481330" y="1796143"/>
            <a:ext cx="9226168" cy="4037483"/>
          </a:xfrm>
          <a:prstGeom prst="rect">
            <a:avLst/>
          </a:prstGeom>
        </p:spPr>
        <p:txBody>
          <a:bodyPr vert="horz" lIns="91440" tIns="91422" rIns="182843" bIns="91422" rtlCol="0">
            <a:normAutofit/>
          </a:bodyPr>
          <a:lstStyle>
            <a:lvl1pPr>
              <a:lnSpc>
                <a:spcPct val="10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4BB2-EB0E-4FCA-B7C1-F61134B477F2}" type="datetime1">
              <a:rPr lang="en-GB" smtClean="0"/>
              <a:t>09/07/2018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19BE-00E3-47E4-8B5C-9A16E584C0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488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" y="304"/>
            <a:ext cx="12187745" cy="68573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65480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637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AED37-71AC-450C-99E8-B515B94DAB0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7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" y="304"/>
            <a:ext cx="12187745" cy="68573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739921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3619646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bg1"/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65480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180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AED37-71AC-450C-99E8-B515B94DAB0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203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499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25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423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903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5704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12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22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1387" y="3393143"/>
            <a:ext cx="5159322" cy="34648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61" y="2295505"/>
            <a:ext cx="6283858" cy="1121703"/>
          </a:xfrm>
        </p:spPr>
        <p:txBody>
          <a:bodyPr rIns="91440" bIns="0">
            <a:normAutofit/>
          </a:bodyPr>
          <a:lstStyle>
            <a:lvl1pPr>
              <a:defRPr sz="3599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322730" y="5889812"/>
            <a:ext cx="1425389" cy="9681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082291" y="3429000"/>
            <a:ext cx="6292850" cy="831850"/>
          </a:xfrm>
        </p:spPr>
        <p:txBody>
          <a:bodyPr tIns="91440" rIns="91440">
            <a:normAutofit/>
          </a:bodyPr>
          <a:lstStyle>
            <a:lvl1pPr>
              <a:defRPr sz="1200" spc="3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441" y="2562548"/>
            <a:ext cx="2322784" cy="1641583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5064873" y="3429000"/>
            <a:ext cx="6284047" cy="0"/>
          </a:xfrm>
          <a:prstGeom prst="line">
            <a:avLst/>
          </a:prstGeom>
          <a:ln w="15875">
            <a:solidFill>
              <a:srgbClr val="BA97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49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3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22730" y="5889812"/>
            <a:ext cx="1425389" cy="968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65061" y="2307537"/>
            <a:ext cx="6283858" cy="1121703"/>
          </a:xfrm>
        </p:spPr>
        <p:txBody>
          <a:bodyPr bIns="0">
            <a:normAutofit/>
          </a:bodyPr>
          <a:lstStyle>
            <a:lvl1pPr>
              <a:defRPr sz="3599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090999" y="3441032"/>
            <a:ext cx="6292850" cy="831850"/>
          </a:xfrm>
        </p:spPr>
        <p:txBody>
          <a:bodyPr tIns="91440">
            <a:normAutofit/>
          </a:bodyPr>
          <a:lstStyle>
            <a:lvl1pPr>
              <a:defRPr sz="12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5064873" y="3429000"/>
            <a:ext cx="6284047" cy="0"/>
          </a:xfrm>
          <a:prstGeom prst="line">
            <a:avLst/>
          </a:prstGeom>
          <a:ln w="15875">
            <a:solidFill>
              <a:srgbClr val="BA97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1387" y="3393143"/>
            <a:ext cx="5159322" cy="346485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513" y="2467219"/>
            <a:ext cx="3066857" cy="194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3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1872">
          <p15:clr>
            <a:srgbClr val="FBAE40"/>
          </p15:clr>
        </p15:guide>
        <p15:guide id="2" pos="326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py, centered"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245949" y="2105827"/>
            <a:ext cx="9723438" cy="1485188"/>
          </a:xfrm>
        </p:spPr>
        <p:txBody>
          <a:bodyPr anchor="b" anchorCtr="0">
            <a:normAutofit/>
          </a:bodyPr>
          <a:lstStyle>
            <a:lvl1pPr algn="ctr">
              <a:defRPr sz="3199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373201" y="4087815"/>
            <a:ext cx="5468937" cy="1951037"/>
          </a:xfrm>
        </p:spPr>
        <p:txBody>
          <a:bodyPr tIns="0">
            <a:normAutofit/>
          </a:bodyPr>
          <a:lstStyle>
            <a:lvl1pPr algn="ctr">
              <a:lnSpc>
                <a:spcPct val="150000"/>
              </a:lnSpc>
              <a:defRPr sz="1999"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1183815" y="6449519"/>
            <a:ext cx="478868" cy="169259"/>
          </a:xfrm>
          <a:prstGeom prst="rect">
            <a:avLst/>
          </a:prstGeom>
          <a:noFill/>
        </p:spPr>
        <p:txBody>
          <a:bodyPr wrap="square" lIns="91398" tIns="45699" rIns="0" bIns="45699" rtlCol="0">
            <a:spAutoFit/>
          </a:bodyPr>
          <a:lstStyle/>
          <a:p>
            <a:pPr algn="r"/>
            <a:fld id="{260E2A6B-A809-4840-BF14-8648BC0BDF87}" type="slidenum">
              <a:rPr lang="id-ID" sz="500">
                <a:solidFill>
                  <a:srgbClr val="FFFFFF">
                    <a:lumMod val="95000"/>
                  </a:srgbClr>
                </a:solidFill>
                <a:ea typeface="Franklin Gothic Book" charset="0"/>
                <a:cs typeface="Franklin Gothic Book" charset="0"/>
              </a:rPr>
              <a:pPr algn="r"/>
              <a:t>‹#›</a:t>
            </a:fld>
            <a:r>
              <a:rPr lang="id-ID" sz="500" dirty="0">
                <a:solidFill>
                  <a:srgbClr val="FFFFFF">
                    <a:lumMod val="95000"/>
                  </a:srgbClr>
                </a:solidFill>
                <a:ea typeface="Franklin Gothic Book" charset="0"/>
                <a:cs typeface="Franklin Gothic Book" charset="0"/>
              </a:rPr>
              <a:t>  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721630" y="3831016"/>
            <a:ext cx="2709949" cy="0"/>
          </a:xfrm>
          <a:prstGeom prst="line">
            <a:avLst/>
          </a:prstGeom>
          <a:ln w="28575">
            <a:solidFill>
              <a:srgbClr val="BA97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430306" y="5952567"/>
            <a:ext cx="968188" cy="9054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54" y="5865381"/>
            <a:ext cx="1254365" cy="8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5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| Big Ideas 2"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77091" y="5902036"/>
            <a:ext cx="913534" cy="9559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430306" y="5952567"/>
            <a:ext cx="968188" cy="9054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"/>
          <a:stretch/>
        </p:blipFill>
        <p:spPr>
          <a:xfrm>
            <a:off x="53787" y="3923925"/>
            <a:ext cx="12211127" cy="2934077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190625" y="1131888"/>
            <a:ext cx="9723438" cy="4572000"/>
          </a:xfrm>
        </p:spPr>
        <p:txBody>
          <a:bodyPr bIns="1097280" anchor="ctr" anchorCtr="0">
            <a:normAutofit/>
          </a:bodyPr>
          <a:lstStyle>
            <a:lvl1pPr algn="ctr">
              <a:lnSpc>
                <a:spcPct val="100000"/>
              </a:lnSpc>
              <a:defRPr sz="4399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1183815" y="6449519"/>
            <a:ext cx="478868" cy="169259"/>
          </a:xfrm>
          <a:prstGeom prst="rect">
            <a:avLst/>
          </a:prstGeom>
          <a:noFill/>
        </p:spPr>
        <p:txBody>
          <a:bodyPr wrap="square" lIns="91398" tIns="45699" rIns="0" bIns="45699" rtlCol="0">
            <a:spAutoFit/>
          </a:bodyPr>
          <a:lstStyle/>
          <a:p>
            <a:pPr algn="r"/>
            <a:fld id="{260E2A6B-A809-4840-BF14-8648BC0BDF87}" type="slidenum">
              <a:rPr lang="id-ID" sz="500">
                <a:solidFill>
                  <a:srgbClr val="FFFFFF">
                    <a:lumMod val="95000"/>
                  </a:srgbClr>
                </a:solidFill>
                <a:ea typeface="Franklin Gothic Book" charset="0"/>
                <a:cs typeface="Franklin Gothic Book" charset="0"/>
              </a:rPr>
              <a:pPr algn="r"/>
              <a:t>‹#›</a:t>
            </a:fld>
            <a:r>
              <a:rPr lang="id-ID" sz="500" dirty="0">
                <a:solidFill>
                  <a:srgbClr val="FFFFFF">
                    <a:lumMod val="95000"/>
                  </a:srgbClr>
                </a:solidFill>
                <a:ea typeface="Franklin Gothic Book" charset="0"/>
                <a:cs typeface="Franklin Gothic Book" charset="0"/>
              </a:rPr>
              <a:t>  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54" y="5865381"/>
            <a:ext cx="1254365" cy="8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8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areas with titl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481331" y="2057402"/>
            <a:ext cx="4125840" cy="667871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algn="ctr">
              <a:defRPr sz="1799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6590281" y="2057402"/>
            <a:ext cx="4117217" cy="667871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algn="ctr">
              <a:defRPr sz="1799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481331" y="2862472"/>
            <a:ext cx="4125840" cy="2779529"/>
          </a:xfrm>
        </p:spPr>
        <p:txBody>
          <a:bodyPr anchor="t" anchorCtr="0">
            <a:normAutofit/>
          </a:bodyPr>
          <a:lstStyle>
            <a:lvl1pPr algn="ctr">
              <a:defRPr sz="1600"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590281" y="2862473"/>
            <a:ext cx="4117217" cy="2779529"/>
          </a:xfrm>
        </p:spPr>
        <p:txBody>
          <a:bodyPr anchor="t" anchorCtr="0">
            <a:normAutofit/>
          </a:bodyPr>
          <a:lstStyle>
            <a:lvl1pPr algn="ctr">
              <a:defRPr sz="1600"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13" name="Title Placeholder 3"/>
          <p:cNvSpPr>
            <a:spLocks noGrp="1"/>
          </p:cNvSpPr>
          <p:nvPr>
            <p:ph type="title"/>
          </p:nvPr>
        </p:nvSpPr>
        <p:spPr>
          <a:xfrm>
            <a:off x="1481330" y="362611"/>
            <a:ext cx="9226168" cy="11217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481329" y="1486827"/>
            <a:ext cx="9226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94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led title +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3727865" y="0"/>
            <a:ext cx="846096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1">
                <a:latin typeface="Franklin Gothic Book" charset="0"/>
              </a:defRPr>
            </a:lvl1pPr>
          </a:lstStyle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" y="0"/>
            <a:ext cx="372786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449316" y="968975"/>
            <a:ext cx="2829234" cy="11217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449679" y="2449513"/>
            <a:ext cx="2828872" cy="3322032"/>
          </a:xfrm>
        </p:spPr>
        <p:txBody>
          <a:bodyPr lIns="91440">
            <a:normAutofit/>
          </a:bodyPr>
          <a:lstStyle>
            <a:lvl1pPr>
              <a:defRPr sz="17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54" y="5865381"/>
            <a:ext cx="1254365" cy="8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7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4" y="0"/>
            <a:ext cx="8430604" cy="6635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7982" y="6356353"/>
            <a:ext cx="2742486" cy="365125"/>
          </a:xfrm>
          <a:prstGeom prst="rect">
            <a:avLst/>
          </a:prstGeom>
        </p:spPr>
        <p:txBody>
          <a:bodyPr/>
          <a:lstStyle/>
          <a:p>
            <a:fld id="{5E066143-072C-4AD4-A93B-33004FBB4C4A}" type="datetime1">
              <a:rPr lang="en-GB" smtClean="0">
                <a:solidFill>
                  <a:srgbClr val="404040"/>
                </a:solidFill>
              </a:rPr>
              <a:t>09/07/2018</a:t>
            </a:fld>
            <a:endParaRPr lang="en-GB">
              <a:solidFill>
                <a:srgbClr val="40404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7549" y="6356353"/>
            <a:ext cx="4113728" cy="365125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40404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8357" y="6356353"/>
            <a:ext cx="2742486" cy="365125"/>
          </a:xfrm>
          <a:prstGeom prst="rect">
            <a:avLst/>
          </a:prstGeom>
        </p:spPr>
        <p:txBody>
          <a:bodyPr/>
          <a:lstStyle/>
          <a:p>
            <a:fld id="{131419BE-00E3-47E4-8B5C-9A16E584C0E5}" type="slidenum">
              <a:rPr lang="en-GB" smtClean="0">
                <a:solidFill>
                  <a:srgbClr val="404040"/>
                </a:solidFill>
              </a:rPr>
              <a:pPr/>
              <a:t>‹#›</a:t>
            </a:fld>
            <a:endParaRPr lang="en-GB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50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" y="306"/>
            <a:ext cx="12187745" cy="68573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4" y="1122363"/>
            <a:ext cx="9141619" cy="2387600"/>
          </a:xfrm>
        </p:spPr>
        <p:txBody>
          <a:bodyPr anchor="b"/>
          <a:lstStyle>
            <a:lvl1pPr algn="ctr">
              <a:defRPr sz="5996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4" y="3602038"/>
            <a:ext cx="9141619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926" indent="0" algn="ctr">
              <a:buNone/>
              <a:defRPr sz="1998"/>
            </a:lvl2pPr>
            <a:lvl3pPr marL="913852" indent="0" algn="ctr">
              <a:buNone/>
              <a:defRPr sz="1798"/>
            </a:lvl3pPr>
            <a:lvl4pPr marL="1370778" indent="0" algn="ctr">
              <a:buNone/>
              <a:defRPr sz="1600"/>
            </a:lvl4pPr>
            <a:lvl5pPr marL="1827703" indent="0" algn="ctr">
              <a:buNone/>
              <a:defRPr sz="1600"/>
            </a:lvl5pPr>
            <a:lvl6pPr marL="2284628" indent="0" algn="ctr">
              <a:buNone/>
              <a:defRPr sz="1600"/>
            </a:lvl6pPr>
            <a:lvl7pPr marL="2741554" indent="0" algn="ctr">
              <a:buNone/>
              <a:defRPr sz="1600"/>
            </a:lvl7pPr>
            <a:lvl8pPr marL="3198480" indent="0" algn="ctr">
              <a:buNone/>
              <a:defRPr sz="1600"/>
            </a:lvl8pPr>
            <a:lvl9pPr marL="3655406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852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65480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852"/>
            <a:endParaRPr lang="en-US" sz="1798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9373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AED37-71AC-450C-99E8-B515B94DAB0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707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" y="306"/>
            <a:ext cx="12187745" cy="68573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739923"/>
            <a:ext cx="10512862" cy="2852737"/>
          </a:xfrm>
        </p:spPr>
        <p:txBody>
          <a:bodyPr anchor="b"/>
          <a:lstStyle>
            <a:lvl1pPr>
              <a:defRPr sz="5996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3619648"/>
            <a:ext cx="10512862" cy="1500187"/>
          </a:xfrm>
        </p:spPr>
        <p:txBody>
          <a:bodyPr/>
          <a:lstStyle>
            <a:lvl1pPr marL="0" indent="0">
              <a:buNone/>
              <a:defRPr sz="2398">
                <a:solidFill>
                  <a:schemeClr val="bg1"/>
                </a:solidFill>
              </a:defRPr>
            </a:lvl1pPr>
            <a:lvl2pPr marL="456926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852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07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7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6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5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4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852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654800"/>
            <a:ext cx="12188825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852"/>
            <a:endParaRPr lang="en-US" sz="1798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667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3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AED37-71AC-450C-99E8-B515B94DAB0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998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8"/>
            <a:ext cx="105128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1" y="1681163"/>
            <a:ext cx="5156444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26" indent="0">
              <a:buNone/>
              <a:defRPr sz="1998" b="1"/>
            </a:lvl2pPr>
            <a:lvl3pPr marL="913852" indent="0">
              <a:buNone/>
              <a:defRPr sz="1798" b="1"/>
            </a:lvl3pPr>
            <a:lvl4pPr marL="1370778" indent="0">
              <a:buNone/>
              <a:defRPr sz="1600" b="1"/>
            </a:lvl4pPr>
            <a:lvl5pPr marL="1827703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4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1" y="2505075"/>
            <a:ext cx="5156444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26" indent="0">
              <a:buNone/>
              <a:defRPr sz="1998" b="1"/>
            </a:lvl2pPr>
            <a:lvl3pPr marL="913852" indent="0">
              <a:buNone/>
              <a:defRPr sz="1798" b="1"/>
            </a:lvl3pPr>
            <a:lvl4pPr marL="1370778" indent="0">
              <a:buNone/>
              <a:defRPr sz="1600" b="1"/>
            </a:lvl4pPr>
            <a:lvl5pPr marL="1827703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4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10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44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591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1" y="457200"/>
            <a:ext cx="3931213" cy="1600200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8"/>
            <a:ext cx="6170593" cy="4873625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1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5608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1" y="457200"/>
            <a:ext cx="3931213" cy="1600200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8"/>
            <a:ext cx="6170593" cy="4873625"/>
          </a:xfrm>
        </p:spPr>
        <p:txBody>
          <a:bodyPr/>
          <a:lstStyle>
            <a:lvl1pPr marL="0" indent="0">
              <a:buNone/>
              <a:defRPr sz="3198"/>
            </a:lvl1pPr>
            <a:lvl2pPr marL="456926" indent="0">
              <a:buNone/>
              <a:defRPr sz="2798"/>
            </a:lvl2pPr>
            <a:lvl3pPr marL="913852" indent="0">
              <a:buNone/>
              <a:defRPr sz="2398"/>
            </a:lvl3pPr>
            <a:lvl4pPr marL="1370778" indent="0">
              <a:buNone/>
              <a:defRPr sz="1998"/>
            </a:lvl4pPr>
            <a:lvl5pPr marL="1827703" indent="0">
              <a:buNone/>
              <a:defRPr sz="1998"/>
            </a:lvl5pPr>
            <a:lvl6pPr marL="2284628" indent="0">
              <a:buNone/>
              <a:defRPr sz="1998"/>
            </a:lvl6pPr>
            <a:lvl7pPr marL="2741554" indent="0">
              <a:buNone/>
              <a:defRPr sz="1998"/>
            </a:lvl7pPr>
            <a:lvl8pPr marL="3198480" indent="0">
              <a:buNone/>
              <a:defRPr sz="1998"/>
            </a:lvl8pPr>
            <a:lvl9pPr marL="3655406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1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31301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91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077" y="1621766"/>
            <a:ext cx="11142835" cy="4211861"/>
          </a:xfrm>
          <a:prstGeom prst="rect">
            <a:avLst/>
          </a:prstGeom>
        </p:spPr>
        <p:txBody>
          <a:bodyPr vert="horz" lIns="91440" tIns="91422" rIns="182843" bIns="91422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1183815" y="6449517"/>
            <a:ext cx="478868" cy="246203"/>
          </a:xfrm>
          <a:prstGeom prst="rect">
            <a:avLst/>
          </a:prstGeom>
          <a:noFill/>
        </p:spPr>
        <p:txBody>
          <a:bodyPr wrap="square" lIns="91422" tIns="45711" rIns="0" bIns="45711" rtlCol="0">
            <a:spAutoFit/>
          </a:bodyPr>
          <a:lstStyle/>
          <a:p>
            <a:pPr algn="r"/>
            <a:fld id="{260E2A6B-A809-4840-BF14-8648BC0BDF87}" type="slidenum">
              <a:rPr lang="id-ID" sz="1000" b="0" i="0" smtClean="0">
                <a:solidFill>
                  <a:schemeClr val="tx1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pPr algn="r"/>
              <a:t>‹#›</a:t>
            </a:fld>
            <a:r>
              <a:rPr lang="id-ID" sz="1000" b="0" i="0" dirty="0" smtClean="0">
                <a:solidFill>
                  <a:schemeClr val="tx1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  </a:t>
            </a:r>
            <a:endParaRPr lang="id-ID" sz="1000" b="0" i="0" dirty="0">
              <a:solidFill>
                <a:schemeClr val="tx1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520311" y="365124"/>
            <a:ext cx="11142372" cy="11217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8790" y="6038905"/>
            <a:ext cx="690880" cy="5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58" r:id="rId2"/>
    <p:sldLayoutId id="2147484054" r:id="rId3"/>
    <p:sldLayoutId id="2147484050" r:id="rId4"/>
    <p:sldLayoutId id="2147484032" r:id="rId5"/>
    <p:sldLayoutId id="2147484004" r:id="rId6"/>
    <p:sldLayoutId id="2147484208" r:id="rId7"/>
    <p:sldLayoutId id="2147484236" r:id="rId8"/>
    <p:sldLayoutId id="2147484270" r:id="rId9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329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tx1"/>
          </a:solidFill>
          <a:latin typeface="+mj-lt"/>
          <a:ea typeface="Franklin Gothic Book" charset="0"/>
          <a:cs typeface="Franklin Gothic Book" charset="0"/>
        </a:defRPr>
      </a:lvl1pPr>
    </p:titleStyle>
    <p:bodyStyle>
      <a:lvl1pPr marL="0" indent="0" algn="l" defTabSz="914329" rtl="0" eaLnBrk="1" latinLnBrk="0" hangingPunct="1">
        <a:lnSpc>
          <a:spcPct val="90000"/>
        </a:lnSpc>
        <a:spcBef>
          <a:spcPts val="1000"/>
        </a:spcBef>
        <a:buFont typeface="Arial" charset="0"/>
        <a:buNone/>
        <a:defRPr lang="en-US" sz="2400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1pPr>
      <a:lvl2pPr marL="457164" indent="0" algn="l" defTabSz="914329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2001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2pPr>
      <a:lvl3pPr marL="914329" indent="0" algn="l" defTabSz="914329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1800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3pPr>
      <a:lvl4pPr marL="1371493" indent="0" algn="l" defTabSz="914329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1600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4pPr>
      <a:lvl5pPr marL="1828658" indent="0" algn="l" defTabSz="914329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1600" kern="1200" dirty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5pPr>
      <a:lvl6pPr marL="2514405" indent="-228582" algn="l" defTabSz="9143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69" indent="-228582" algn="l" defTabSz="9143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34" indent="-228582" algn="l" defTabSz="9143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99" indent="-228582" algn="l" defTabSz="9143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4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9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3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8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3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7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51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16" algn="l" defTabSz="9143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401"/>
          <a:stretch/>
        </p:blipFill>
        <p:spPr>
          <a:xfrm>
            <a:off x="1080" y="-61182"/>
            <a:ext cx="12187745" cy="93257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201" y="143598"/>
            <a:ext cx="8959248" cy="648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0" y="1082516"/>
            <a:ext cx="11878495" cy="5503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932873"/>
            <a:ext cx="12188825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821056"/>
            <a:ext cx="12188825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4723170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26"/>
            <a:fld id="{FBBAED37-71AC-450C-99E8-B515B94DAB0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914126"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8790" y="6038905"/>
            <a:ext cx="690880" cy="5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1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8" r:id="rId1"/>
    <p:sldLayoutId id="2147484239" r:id="rId2"/>
    <p:sldLayoutId id="2147484240" r:id="rId3"/>
    <p:sldLayoutId id="2147484241" r:id="rId4"/>
    <p:sldLayoutId id="2147484242" r:id="rId5"/>
    <p:sldLayoutId id="2147484243" r:id="rId6"/>
    <p:sldLayoutId id="2147484244" r:id="rId7"/>
    <p:sldLayoutId id="2147484245" r:id="rId8"/>
    <p:sldLayoutId id="2147484246" r:id="rId9"/>
    <p:sldLayoutId id="2147484247" r:id="rId10"/>
    <p:sldLayoutId id="2147484248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2799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078" y="1621768"/>
            <a:ext cx="11142835" cy="4211861"/>
          </a:xfrm>
          <a:prstGeom prst="rect">
            <a:avLst/>
          </a:prstGeom>
        </p:spPr>
        <p:txBody>
          <a:bodyPr vert="horz" lIns="91440" tIns="91422" rIns="182843" bIns="91422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1183815" y="6449519"/>
            <a:ext cx="478868" cy="169259"/>
          </a:xfrm>
          <a:prstGeom prst="rect">
            <a:avLst/>
          </a:prstGeom>
          <a:noFill/>
        </p:spPr>
        <p:txBody>
          <a:bodyPr wrap="square" lIns="91398" tIns="45699" rIns="0" bIns="45699" rtlCol="0">
            <a:spAutoFit/>
          </a:bodyPr>
          <a:lstStyle/>
          <a:p>
            <a:pPr algn="r"/>
            <a:fld id="{260E2A6B-A809-4840-BF14-8648BC0BDF87}" type="slidenum">
              <a:rPr lang="id-ID" sz="500">
                <a:solidFill>
                  <a:srgbClr val="404040"/>
                </a:solidFill>
                <a:ea typeface="Franklin Gothic Book" charset="0"/>
                <a:cs typeface="Franklin Gothic Book" charset="0"/>
              </a:rPr>
              <a:pPr algn="r"/>
              <a:t>‹#›</a:t>
            </a:fld>
            <a:r>
              <a:rPr lang="id-ID" sz="500" dirty="0">
                <a:solidFill>
                  <a:srgbClr val="404040"/>
                </a:solidFill>
                <a:ea typeface="Franklin Gothic Book" charset="0"/>
                <a:cs typeface="Franklin Gothic Book" charset="0"/>
              </a:rPr>
              <a:t>  </a:t>
            </a: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520311" y="365125"/>
            <a:ext cx="11142372" cy="11217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8790" y="6038907"/>
            <a:ext cx="690880" cy="5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7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1" r:id="rId2"/>
    <p:sldLayoutId id="2147484252" r:id="rId3"/>
    <p:sldLayoutId id="2147484253" r:id="rId4"/>
    <p:sldLayoutId id="2147484254" r:id="rId5"/>
    <p:sldLayoutId id="2147484255" r:id="rId6"/>
    <p:sldLayoutId id="2147484256" r:id="rId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055" rtl="0" eaLnBrk="1" latinLnBrk="0" hangingPunct="1">
        <a:lnSpc>
          <a:spcPct val="90000"/>
        </a:lnSpc>
        <a:spcBef>
          <a:spcPct val="0"/>
        </a:spcBef>
        <a:buNone/>
        <a:defRPr lang="en-US" sz="2799" kern="1200">
          <a:solidFill>
            <a:schemeClr val="tx1"/>
          </a:solidFill>
          <a:latin typeface="+mj-lt"/>
          <a:ea typeface="Franklin Gothic Book" charset="0"/>
          <a:cs typeface="Franklin Gothic Book" charset="0"/>
        </a:defRPr>
      </a:lvl1pPr>
    </p:titleStyle>
    <p:bodyStyle>
      <a:lvl1pPr marL="0" indent="0" algn="l" defTabSz="914055" rtl="0" eaLnBrk="1" latinLnBrk="0" hangingPunct="1">
        <a:lnSpc>
          <a:spcPct val="90000"/>
        </a:lnSpc>
        <a:spcBef>
          <a:spcPts val="1000"/>
        </a:spcBef>
        <a:buFont typeface="Arial" charset="0"/>
        <a:buNone/>
        <a:defRPr lang="en-US" sz="2399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1pPr>
      <a:lvl2pPr marL="457027" indent="0" algn="l" defTabSz="914055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2000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2pPr>
      <a:lvl3pPr marL="914055" indent="0" algn="l" defTabSz="914055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1799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3pPr>
      <a:lvl4pPr marL="1371082" indent="0" algn="l" defTabSz="914055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1600" kern="1200" dirty="0" smtClean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4pPr>
      <a:lvl5pPr marL="1828109" indent="0" algn="l" defTabSz="914055" rtl="0" eaLnBrk="1" latinLnBrk="0" hangingPunct="1">
        <a:lnSpc>
          <a:spcPct val="90000"/>
        </a:lnSpc>
        <a:spcBef>
          <a:spcPts val="500"/>
        </a:spcBef>
        <a:buFont typeface="Arial" charset="0"/>
        <a:buNone/>
        <a:defRPr lang="en-US" sz="1600" kern="1200" dirty="0">
          <a:solidFill>
            <a:srgbClr val="7F7F7F"/>
          </a:solidFill>
          <a:effectLst/>
          <a:latin typeface="Franklin Gothic Book" charset="0"/>
          <a:ea typeface="Franklin Gothic Book" charset="0"/>
          <a:cs typeface="Franklin Gothic Book" charset="0"/>
        </a:defRPr>
      </a:lvl5pPr>
      <a:lvl6pPr marL="2513651" indent="-228513" algn="l" defTabSz="9140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78" indent="-228513" algn="l" defTabSz="9140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705" indent="-228513" algn="l" defTabSz="9140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733" indent="-228513" algn="l" defTabSz="9140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27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55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82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109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137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64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91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219" algn="l" defTabSz="914055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401"/>
          <a:stretch/>
        </p:blipFill>
        <p:spPr>
          <a:xfrm>
            <a:off x="1081" y="-61182"/>
            <a:ext cx="12187745" cy="93257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201" y="143598"/>
            <a:ext cx="8959248" cy="648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1082518"/>
            <a:ext cx="11878495" cy="5503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" y="932873"/>
            <a:ext cx="12188825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1" y="6821056"/>
            <a:ext cx="12188825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4723170" y="6356353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852"/>
            <a:fld id="{FBBAED37-71AC-450C-99E8-B515B94DAB0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913852"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8790" y="6038907"/>
            <a:ext cx="690880" cy="5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30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8" r:id="rId1"/>
    <p:sldLayoutId id="2147484259" r:id="rId2"/>
    <p:sldLayoutId id="2147484260" r:id="rId3"/>
    <p:sldLayoutId id="2147484261" r:id="rId4"/>
    <p:sldLayoutId id="2147484262" r:id="rId5"/>
    <p:sldLayoutId id="2147484263" r:id="rId6"/>
    <p:sldLayoutId id="2147484264" r:id="rId7"/>
    <p:sldLayoutId id="2147484265" r:id="rId8"/>
    <p:sldLayoutId id="2147484266" r:id="rId9"/>
    <p:sldLayoutId id="2147484267" r:id="rId10"/>
    <p:sldLayoutId id="2147484268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3852" rtl="0" eaLnBrk="1" latinLnBrk="0" hangingPunct="1">
        <a:lnSpc>
          <a:spcPct val="90000"/>
        </a:lnSpc>
        <a:spcBef>
          <a:spcPct val="0"/>
        </a:spcBef>
        <a:buNone/>
        <a:defRPr sz="2798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462" indent="-228462" algn="l" defTabSz="91385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88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314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240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66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092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70017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943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868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926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852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778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703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628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554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480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406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po.zo-datasciences.co.uk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GB" dirty="0" smtClean="0"/>
          </a:p>
          <a:p>
            <a:r>
              <a:rPr lang="en-GB" dirty="0" smtClean="0"/>
              <a:t>Stage Two Results – 15</a:t>
            </a:r>
            <a:r>
              <a:rPr lang="en-GB" baseline="30000" dirty="0" smtClean="0"/>
              <a:t>th</a:t>
            </a:r>
            <a:r>
              <a:rPr lang="en-GB" dirty="0" smtClean="0"/>
              <a:t> December 2017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P&amp;O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52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Project Scope &amp; Timings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MTA 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Executive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Conversion Journeys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Results and Results Deep Dive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‘Optimum’ Demo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Next Steps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solidFill>
                  <a:schemeClr val="tx1"/>
                </a:solidFill>
              </a:rPr>
              <a:t>Appendix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28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Scope &amp; Timings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68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978" y="1222885"/>
            <a:ext cx="10962190" cy="4693821"/>
          </a:xfrm>
        </p:spPr>
        <p:txBody>
          <a:bodyPr>
            <a:normAutofit fontScale="85000" lnSpcReduction="10000"/>
          </a:bodyPr>
          <a:lstStyle/>
          <a:p>
            <a:pPr defTabSz="914400"/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an update from the last presentation (‘Stage One’) of the project where we have re-run the Multi-Touch Attribution (MTA) model for P&amp;O Bookings across the 5 core markets</a:t>
            </a:r>
          </a:p>
          <a:p>
            <a:pPr defTabSz="914400"/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conversion window has been extended: July 14th – December 5th 2017</a:t>
            </a:r>
          </a:p>
          <a:p>
            <a:pPr defTabSz="914400"/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conversion </a:t>
            </a: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tags </a:t>
            </a: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 in this project </a:t>
            </a: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P&amp;O online bookings</a:t>
            </a:r>
          </a:p>
          <a:p>
            <a:pPr defTabSz="914400"/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data is sourced from DoubleClick log files (DTV2 files) and Impact Radius</a:t>
            </a:r>
          </a:p>
          <a:p>
            <a:pPr defTabSz="914400"/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Media Channels Tracked:</a:t>
            </a:r>
          </a:p>
          <a:p>
            <a:pPr marL="800064" lvl="1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</a:t>
            </a:r>
          </a:p>
          <a:p>
            <a:pPr marL="800064" lvl="1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PPC Search</a:t>
            </a:r>
          </a:p>
          <a:p>
            <a:pPr marL="800064" lvl="1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Natural Search </a:t>
            </a:r>
          </a:p>
          <a:p>
            <a:pPr marL="800064" lvl="1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Affiliate</a:t>
            </a:r>
          </a:p>
          <a:p>
            <a:pPr marL="800064" lvl="1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Social (Facebook)</a:t>
            </a:r>
          </a:p>
          <a:p>
            <a:pPr marL="800064" lvl="1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Email</a:t>
            </a:r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7753" y="893"/>
            <a:ext cx="9444507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Project Overview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573100" y="6712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84415" y="6382029"/>
            <a:ext cx="6483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Note: Stage Two analysis includes All Conversions , not only First Conversions  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7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7753" y="893"/>
            <a:ext cx="9444507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Scope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6978" y="1222885"/>
            <a:ext cx="10962190" cy="4693821"/>
          </a:xfrm>
        </p:spPr>
        <p:txBody>
          <a:bodyPr>
            <a:normAutofit/>
          </a:bodyPr>
          <a:lstStyle/>
          <a:p>
            <a:pPr defTabSz="914400">
              <a:lnSpc>
                <a:spcPct val="80000"/>
              </a:lnSpc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 is the same as it was in Stage One of the analysis:</a:t>
            </a:r>
          </a:p>
          <a:p>
            <a:pPr defTabSz="914400">
              <a:lnSpc>
                <a:spcPct val="80000"/>
              </a:lnSpc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Carry out MTA for P&amp;O Ferries Online Bookings across 5 markets by route: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2" indent="-457200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UK (Short Sea, North Sea I (Hull-Rotterdam), North Sea II (Hull-Zeebrugge), Irish Sea)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2" indent="-457200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France (Short Sea, North Sea I, North Sea II, Irish Sea)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2" indent="-457200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Germany (Short Sea, North Sea I, North Sea II, Irish Sea)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2" indent="-457200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Belgium (Short Sea, North Sea I, North Sea II, Irish Sea)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2" indent="-457200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Holland (Short Sea, North Sea I, North Sea II, Irish Sea)</a:t>
            </a:r>
          </a:p>
          <a:p>
            <a:pPr marL="0" lvl="2" defTabSz="914400">
              <a:lnSpc>
                <a:spcPct val="80000"/>
              </a:lnSpc>
              <a:spcBef>
                <a:spcPts val="1000"/>
              </a:spcBef>
            </a:pPr>
            <a:endParaRPr lang="en-GB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80000"/>
              </a:lnSpc>
            </a:pPr>
            <a:r>
              <a:rPr lang="en-GB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also have included mini-cruise routes for UK, Netherlands and Belgium</a:t>
            </a:r>
          </a:p>
          <a:p>
            <a:endParaRPr lang="en-GB" sz="2399" dirty="0"/>
          </a:p>
          <a:p>
            <a:endParaRPr lang="en-GB" sz="2399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399" dirty="0" smtClean="0"/>
          </a:p>
          <a:p>
            <a:pPr lvl="1"/>
            <a:endParaRPr lang="en-US" sz="2000" dirty="0"/>
          </a:p>
          <a:p>
            <a:endParaRPr lang="en-GB" dirty="0"/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45724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7753" y="893"/>
            <a:ext cx="9444507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Project Timings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443673083"/>
              </p:ext>
            </p:extLst>
          </p:nvPr>
        </p:nvGraphicFramePr>
        <p:xfrm>
          <a:off x="1809795" y="1186543"/>
          <a:ext cx="8569234" cy="4484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ight Arrow 6"/>
          <p:cNvSpPr/>
          <p:nvPr/>
        </p:nvSpPr>
        <p:spPr>
          <a:xfrm>
            <a:off x="2020389" y="5164184"/>
            <a:ext cx="8839199" cy="775062"/>
          </a:xfrm>
          <a:prstGeom prst="right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GB" sz="9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GB" sz="900" kern="0" dirty="0">
                <a:solidFill>
                  <a:sysClr val="window" lastClr="FFFF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900" kern="0" dirty="0" smtClean="0">
                <a:solidFill>
                  <a:sysClr val="window" lastClr="FFFF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0" lang="en-GB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November 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17’                         </a:t>
            </a:r>
            <a:r>
              <a:rPr kumimoji="0" lang="en-GB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December 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17’                         </a:t>
            </a:r>
            <a:r>
              <a:rPr kumimoji="0" lang="en-GB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January 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18’                          </a:t>
            </a:r>
            <a:r>
              <a:rPr kumimoji="0" lang="en-GB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February 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18’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4900006" y="423694"/>
            <a:ext cx="2804160" cy="748938"/>
          </a:xfrm>
          <a:prstGeom prst="wedgeRectCallout">
            <a:avLst>
              <a:gd name="adj1" fmla="val -48162"/>
              <a:gd name="adj2" fmla="val 16947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bg1"/>
                </a:solidFill>
                <a:latin typeface="+mj-lt"/>
              </a:rPr>
              <a:t>We are here!</a:t>
            </a:r>
            <a:endParaRPr lang="en-US" sz="2400" dirty="0" smtClean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366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624" y="1222884"/>
            <a:ext cx="10989577" cy="4988655"/>
          </a:xfrm>
        </p:spPr>
        <p:txBody>
          <a:bodyPr>
            <a:normAutofit fontScale="92500"/>
          </a:bodyPr>
          <a:lstStyle/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sz="2799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MTA : Multi-Touch Attribution</a:t>
            </a:r>
          </a:p>
          <a:p>
            <a:pPr marL="228600" lvl="1" indent="-2286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799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approach used in this project to more accurately reflect contribution from digital touchpoints toward conversions e.g. sales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endParaRPr lang="en-GB" sz="2799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sz="2799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LTA : Last-Touch Attribution</a:t>
            </a:r>
          </a:p>
          <a:p>
            <a:pPr marL="228600" lvl="1" indent="-2286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799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 attribution approach where 100% of contribution credit is awarded to the last touchpoint prior to the conversion goal; the industry default view</a:t>
            </a:r>
          </a:p>
          <a:p>
            <a:pPr marL="457063" lvl="1"/>
            <a:endParaRPr lang="en-GB" dirty="0"/>
          </a:p>
          <a:p>
            <a:pPr marL="457063" lvl="1"/>
            <a:endParaRPr lang="en-GB" dirty="0" smtClean="0"/>
          </a:p>
          <a:p>
            <a:endParaRPr lang="en-GB" dirty="0" smtClean="0"/>
          </a:p>
          <a:p>
            <a:pPr marL="457063" lvl="1"/>
            <a:endParaRPr lang="en-GB" dirty="0"/>
          </a:p>
          <a:p>
            <a:pPr marL="457063" lvl="1"/>
            <a:r>
              <a:rPr lang="en-GB" dirty="0"/>
              <a:t>	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7173631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Definitions Used in This </a:t>
            </a:r>
            <a:r>
              <a:rPr lang="en-GB" dirty="0"/>
              <a:t>P</a:t>
            </a:r>
            <a:r>
              <a:rPr lang="en-GB" dirty="0" smtClean="0"/>
              <a:t>resentation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91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Quick Reminder of Our Methodology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Last Click vs MTA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AED37-71AC-450C-99E8-B515B94DAB0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3077974" y="1591850"/>
            <a:ext cx="6119761" cy="1147781"/>
            <a:chOff x="1779304" y="1851660"/>
            <a:chExt cx="4591016" cy="861060"/>
          </a:xfrm>
          <a:solidFill>
            <a:schemeClr val="bg1">
              <a:lumMod val="75000"/>
              <a:alpha val="50196"/>
            </a:schemeClr>
          </a:solidFill>
        </p:grpSpPr>
        <p:sp>
          <p:nvSpPr>
            <p:cNvPr id="59" name="Notched Right Arrow 58"/>
            <p:cNvSpPr/>
            <p:nvPr/>
          </p:nvSpPr>
          <p:spPr>
            <a:xfrm>
              <a:off x="1956860" y="1851660"/>
              <a:ext cx="4413460" cy="861060"/>
            </a:xfrm>
            <a:prstGeom prst="notchedRightArrow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804">
                <a:defRPr/>
              </a:pPr>
              <a:endParaRPr lang="en-GB" sz="2399" kern="0">
                <a:solidFill>
                  <a:prstClr val="white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779304" y="2065020"/>
              <a:ext cx="529555" cy="434340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804">
                <a:defRPr/>
              </a:pPr>
              <a:endParaRPr lang="en-GB" sz="2399" kern="0">
                <a:solidFill>
                  <a:prstClr val="white"/>
                </a:solidFill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3885438" y="1794997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830072" y="1794997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774706" y="1794997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19340" y="1794997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663974" y="1794997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885438" y="2520234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Email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30072" y="2520234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Search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74706" y="2520235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Display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19340" y="2520234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Search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4862" y="2520235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Affiliates</a:t>
            </a: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 rotWithShape="1">
          <a:blip r:embed="rId2"/>
          <a:srcRect l="86625" b="52733"/>
          <a:stretch/>
        </p:blipFill>
        <p:spPr>
          <a:xfrm>
            <a:off x="9060166" y="1659970"/>
            <a:ext cx="1117309" cy="101154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768" y="1926212"/>
            <a:ext cx="505359" cy="445221"/>
          </a:xfrm>
          <a:prstGeom prst="rect">
            <a:avLst/>
          </a:prstGeom>
        </p:spPr>
      </p:pic>
      <p:pic>
        <p:nvPicPr>
          <p:cNvPr id="76" name="Picture 2" descr="http://icons.iconarchive.com/icons/custom-icon-design/mono-general-4/512/eye-icon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917" y="1945315"/>
            <a:ext cx="387876" cy="38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76"/>
          <p:cNvSpPr txBox="1"/>
          <p:nvPr/>
        </p:nvSpPr>
        <p:spPr>
          <a:xfrm>
            <a:off x="1438073" y="3544395"/>
            <a:ext cx="1504661" cy="58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prstClr val="black">
                    <a:lumMod val="50000"/>
                    <a:lumOff val="50000"/>
                  </a:prstClr>
                </a:solidFill>
                <a:cs typeface="Calibri" pitchFamily="34" charset="0"/>
              </a:rPr>
              <a:t>LAST CLICK APPROACH</a:t>
            </a:r>
          </a:p>
        </p:txBody>
      </p:sp>
      <p:grpSp>
        <p:nvGrpSpPr>
          <p:cNvPr id="78" name="Group 77"/>
          <p:cNvGrpSpPr/>
          <p:nvPr/>
        </p:nvGrpSpPr>
        <p:grpSpPr>
          <a:xfrm>
            <a:off x="3086065" y="3285428"/>
            <a:ext cx="6119761" cy="1147781"/>
            <a:chOff x="1779304" y="1851660"/>
            <a:chExt cx="4591016" cy="861060"/>
          </a:xfrm>
          <a:solidFill>
            <a:schemeClr val="bg1">
              <a:lumMod val="75000"/>
              <a:alpha val="50196"/>
            </a:schemeClr>
          </a:solidFill>
        </p:grpSpPr>
        <p:sp>
          <p:nvSpPr>
            <p:cNvPr id="79" name="Notched Right Arrow 78"/>
            <p:cNvSpPr/>
            <p:nvPr/>
          </p:nvSpPr>
          <p:spPr>
            <a:xfrm>
              <a:off x="1956860" y="1851660"/>
              <a:ext cx="4413460" cy="861060"/>
            </a:xfrm>
            <a:prstGeom prst="notchedRightArrow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804">
                <a:defRPr/>
              </a:pPr>
              <a:endParaRPr lang="en-GB" sz="2399" kern="0">
                <a:solidFill>
                  <a:prstClr val="white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779304" y="2065020"/>
              <a:ext cx="529555" cy="434340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804">
                <a:defRPr/>
              </a:pPr>
              <a:endParaRPr lang="en-GB" sz="2399" kern="0">
                <a:solidFill>
                  <a:prstClr val="white"/>
                </a:solidFill>
              </a:endParaRPr>
            </a:p>
          </p:txBody>
        </p:sp>
      </p:grpSp>
      <p:sp>
        <p:nvSpPr>
          <p:cNvPr id="81" name="Rectangle 80"/>
          <p:cNvSpPr/>
          <p:nvPr/>
        </p:nvSpPr>
        <p:spPr>
          <a:xfrm>
            <a:off x="3893529" y="3488576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r>
              <a:rPr lang="en-GB" sz="2399" kern="0" dirty="0">
                <a:solidFill>
                  <a:prstClr val="white"/>
                </a:solidFill>
              </a:rPr>
              <a:t>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38163" y="3488576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r>
              <a:rPr lang="en-GB" sz="2399" kern="0" dirty="0">
                <a:solidFill>
                  <a:prstClr val="white"/>
                </a:solidFill>
              </a:rPr>
              <a:t>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82797" y="3488576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r>
              <a:rPr lang="en-GB" sz="2399" kern="0" dirty="0">
                <a:solidFill>
                  <a:prstClr val="white"/>
                </a:solidFill>
              </a:rPr>
              <a:t>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27431" y="3488576"/>
            <a:ext cx="690700" cy="655426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r>
              <a:rPr lang="en-GB" sz="2399" kern="0" dirty="0">
                <a:solidFill>
                  <a:prstClr val="white"/>
                </a:solidFill>
              </a:rPr>
              <a:t>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72065" y="3488576"/>
            <a:ext cx="690700" cy="655426"/>
          </a:xfrm>
          <a:prstGeom prst="rect">
            <a:avLst/>
          </a:prstGeom>
          <a:solidFill>
            <a:srgbClr val="0D9B3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893529" y="4213812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Email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38163" y="4213812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Search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82797" y="4213813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Display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27431" y="4213812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Search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72953" y="4213813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Affiliates</a:t>
            </a: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 rotWithShape="1">
          <a:blip r:embed="rId2"/>
          <a:srcRect l="86625" b="52733"/>
          <a:stretch/>
        </p:blipFill>
        <p:spPr>
          <a:xfrm>
            <a:off x="9068257" y="3353548"/>
            <a:ext cx="1117309" cy="1011541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 rotWithShape="1">
          <a:blip r:embed="rId2">
            <a:biLevel thresh="25000"/>
          </a:blip>
          <a:srcRect l="86625" r="5753" b="77779"/>
          <a:stretch/>
        </p:blipFill>
        <p:spPr>
          <a:xfrm>
            <a:off x="7654811" y="3511842"/>
            <a:ext cx="636693" cy="475556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438073" y="5323480"/>
            <a:ext cx="1504661" cy="58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397852"/>
                </a:solidFill>
                <a:cs typeface="Calibri" pitchFamily="34" charset="0"/>
              </a:rPr>
              <a:t>MULTI-TOUCH ATTRIBUTION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3086065" y="5056049"/>
            <a:ext cx="6119761" cy="1147781"/>
            <a:chOff x="1779304" y="1851660"/>
            <a:chExt cx="4591016" cy="861060"/>
          </a:xfrm>
          <a:solidFill>
            <a:schemeClr val="bg1">
              <a:lumMod val="75000"/>
              <a:alpha val="50196"/>
            </a:schemeClr>
          </a:solidFill>
        </p:grpSpPr>
        <p:sp>
          <p:nvSpPr>
            <p:cNvPr id="95" name="Notched Right Arrow 94"/>
            <p:cNvSpPr/>
            <p:nvPr/>
          </p:nvSpPr>
          <p:spPr>
            <a:xfrm>
              <a:off x="1956860" y="1851660"/>
              <a:ext cx="4413460" cy="861060"/>
            </a:xfrm>
            <a:prstGeom prst="notchedRightArrow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804">
                <a:defRPr/>
              </a:pPr>
              <a:endParaRPr lang="en-GB" sz="2399" kern="0">
                <a:solidFill>
                  <a:prstClr val="white"/>
                </a:solidFill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779304" y="2065020"/>
              <a:ext cx="529555" cy="434340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804">
                <a:defRPr/>
              </a:pPr>
              <a:endParaRPr lang="en-GB" sz="2399" kern="0">
                <a:solidFill>
                  <a:prstClr val="white"/>
                </a:solidFill>
              </a:endParaRPr>
            </a:p>
          </p:txBody>
        </p:sp>
      </p:grpSp>
      <p:sp>
        <p:nvSpPr>
          <p:cNvPr id="97" name="Rectangle 96"/>
          <p:cNvSpPr/>
          <p:nvPr/>
        </p:nvSpPr>
        <p:spPr>
          <a:xfrm>
            <a:off x="7672065" y="5665314"/>
            <a:ext cx="690700" cy="254110"/>
          </a:xfrm>
          <a:prstGeom prst="rect">
            <a:avLst/>
          </a:prstGeom>
          <a:solidFill>
            <a:srgbClr val="0D9B3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93529" y="5984434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Email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38163" y="5984434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Search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82797" y="5984435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Display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7431" y="5984434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Search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72953" y="5984435"/>
            <a:ext cx="690700" cy="23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33" dirty="0">
                <a:solidFill>
                  <a:prstClr val="white">
                    <a:lumMod val="50000"/>
                  </a:prstClr>
                </a:solidFill>
                <a:cs typeface="Calibri" pitchFamily="34" charset="0"/>
              </a:rPr>
              <a:t>Affiliates</a:t>
            </a:r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 rotWithShape="1">
          <a:blip r:embed="rId2"/>
          <a:srcRect l="86625" b="52733"/>
          <a:stretch/>
        </p:blipFill>
        <p:spPr>
          <a:xfrm>
            <a:off x="9068257" y="5124169"/>
            <a:ext cx="1117309" cy="1011541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3885438" y="5781067"/>
            <a:ext cx="690700" cy="138359"/>
          </a:xfrm>
          <a:prstGeom prst="rect">
            <a:avLst/>
          </a:prstGeom>
          <a:solidFill>
            <a:srgbClr val="0D9B3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823763" y="5724470"/>
            <a:ext cx="690700" cy="194956"/>
          </a:xfrm>
          <a:prstGeom prst="rect">
            <a:avLst/>
          </a:prstGeom>
          <a:solidFill>
            <a:srgbClr val="0D9B3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5782797" y="5846828"/>
            <a:ext cx="690700" cy="72598"/>
          </a:xfrm>
          <a:prstGeom prst="rect">
            <a:avLst/>
          </a:prstGeom>
          <a:solidFill>
            <a:srgbClr val="0D9B3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6735248" y="5846828"/>
            <a:ext cx="690700" cy="72598"/>
          </a:xfrm>
          <a:prstGeom prst="rect">
            <a:avLst/>
          </a:prstGeom>
          <a:solidFill>
            <a:srgbClr val="0D9B3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04">
              <a:defRPr/>
            </a:pPr>
            <a:endParaRPr lang="en-GB" sz="2399" kern="0" dirty="0">
              <a:solidFill>
                <a:prstClr val="white"/>
              </a:solidFill>
            </a:endParaRPr>
          </a:p>
        </p:txBody>
      </p:sp>
      <p:sp>
        <p:nvSpPr>
          <p:cNvPr id="108" name="Content Placeholder 1"/>
          <p:cNvSpPr txBox="1">
            <a:spLocks/>
          </p:cNvSpPr>
          <p:nvPr/>
        </p:nvSpPr>
        <p:spPr>
          <a:xfrm>
            <a:off x="1061944" y="1059486"/>
            <a:ext cx="10516433" cy="1838982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>
            <a:lvl1pPr marL="180000" indent="-180000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rgbClr val="4D4D4F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355600" indent="-176213" algn="l" defTabSz="457200" rtl="0" eaLnBrk="1" latinLnBrk="0" hangingPunct="1">
              <a:spcBef>
                <a:spcPts val="3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rgbClr val="4D4D4F"/>
                </a:solidFill>
                <a:latin typeface="+mj-lt"/>
                <a:ea typeface="+mn-ea"/>
                <a:cs typeface="Calibri" pitchFamily="34" charset="0"/>
              </a:defRPr>
            </a:lvl2pPr>
            <a:lvl3pPr marL="538163" indent="-142875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tabLst>
                <a:tab pos="538163" algn="l"/>
              </a:tabLst>
              <a:defRPr sz="1800" kern="120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3pPr>
            <a:lvl4pPr marL="809625" indent="-198438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tabLst>
                <a:tab pos="809625" algn="l"/>
              </a:tabLst>
              <a:defRPr lang="en-GB" sz="1800" kern="1200" dirty="0" smtClean="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4pPr>
            <a:lvl5pPr marL="984250" indent="-157163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defRPr sz="1800" kern="120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402">
              <a:spcBef>
                <a:spcPts val="1600"/>
              </a:spcBef>
              <a:buClr>
                <a:srgbClr val="00AEEF"/>
              </a:buClr>
              <a:buNone/>
              <a:defRPr/>
            </a:pPr>
            <a:r>
              <a:rPr lang="en-GB" sz="2666" dirty="0"/>
              <a:t>Which interaction is responsible for the conversion?</a:t>
            </a:r>
          </a:p>
        </p:txBody>
      </p:sp>
      <p:sp>
        <p:nvSpPr>
          <p:cNvPr id="109" name="Content Placeholder 1"/>
          <p:cNvSpPr txBox="1">
            <a:spLocks/>
          </p:cNvSpPr>
          <p:nvPr/>
        </p:nvSpPr>
        <p:spPr>
          <a:xfrm>
            <a:off x="1061944" y="2768400"/>
            <a:ext cx="10516433" cy="1838982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>
            <a:lvl1pPr marL="180000" indent="-180000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rgbClr val="4D4D4F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355600" indent="-176213" algn="l" defTabSz="457200" rtl="0" eaLnBrk="1" latinLnBrk="0" hangingPunct="1">
              <a:spcBef>
                <a:spcPts val="3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rgbClr val="4D4D4F"/>
                </a:solidFill>
                <a:latin typeface="+mj-lt"/>
                <a:ea typeface="+mn-ea"/>
                <a:cs typeface="Calibri" pitchFamily="34" charset="0"/>
              </a:defRPr>
            </a:lvl2pPr>
            <a:lvl3pPr marL="538163" indent="-142875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tabLst>
                <a:tab pos="538163" algn="l"/>
              </a:tabLst>
              <a:defRPr sz="1800" kern="120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3pPr>
            <a:lvl4pPr marL="809625" indent="-198438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tabLst>
                <a:tab pos="809625" algn="l"/>
              </a:tabLst>
              <a:defRPr lang="en-GB" sz="1800" kern="1200" dirty="0" smtClean="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4pPr>
            <a:lvl5pPr marL="984250" indent="-157163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defRPr sz="1800" kern="120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402">
              <a:spcBef>
                <a:spcPts val="1600"/>
              </a:spcBef>
              <a:buClr>
                <a:srgbClr val="00AEEF"/>
              </a:buClr>
              <a:buNone/>
              <a:defRPr/>
            </a:pPr>
            <a:r>
              <a:rPr lang="en-GB" sz="2666" dirty="0"/>
              <a:t>The industry default</a:t>
            </a:r>
          </a:p>
        </p:txBody>
      </p:sp>
      <p:sp>
        <p:nvSpPr>
          <p:cNvPr id="110" name="Content Placeholder 1"/>
          <p:cNvSpPr txBox="1">
            <a:spLocks/>
          </p:cNvSpPr>
          <p:nvPr/>
        </p:nvSpPr>
        <p:spPr>
          <a:xfrm>
            <a:off x="1061944" y="4644481"/>
            <a:ext cx="10516433" cy="707860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>
            <a:lvl1pPr marL="180000" indent="-180000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rgbClr val="4D4D4F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355600" indent="-176213" algn="l" defTabSz="457200" rtl="0" eaLnBrk="1" latinLnBrk="0" hangingPunct="1">
              <a:spcBef>
                <a:spcPts val="3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rgbClr val="4D4D4F"/>
                </a:solidFill>
                <a:latin typeface="+mj-lt"/>
                <a:ea typeface="+mn-ea"/>
                <a:cs typeface="Calibri" pitchFamily="34" charset="0"/>
              </a:defRPr>
            </a:lvl2pPr>
            <a:lvl3pPr marL="538163" indent="-142875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tabLst>
                <a:tab pos="538163" algn="l"/>
              </a:tabLst>
              <a:defRPr sz="1800" kern="120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3pPr>
            <a:lvl4pPr marL="809625" indent="-198438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tabLst>
                <a:tab pos="809625" algn="l"/>
              </a:tabLst>
              <a:defRPr lang="en-GB" sz="1800" kern="1200" dirty="0" smtClean="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4pPr>
            <a:lvl5pPr marL="984250" indent="-157163" algn="l" defTabSz="457200" rtl="0" eaLnBrk="1" latinLnBrk="0" hangingPunct="1">
              <a:spcBef>
                <a:spcPts val="0"/>
              </a:spcBef>
              <a:buClr>
                <a:schemeClr val="tx2"/>
              </a:buClr>
              <a:buFont typeface="Lucida Grande"/>
              <a:buChar char="–"/>
              <a:defRPr sz="1800" kern="1200">
                <a:solidFill>
                  <a:srgbClr val="4D4D4F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402">
              <a:spcBef>
                <a:spcPts val="1600"/>
              </a:spcBef>
              <a:buClr>
                <a:srgbClr val="00AEEF"/>
              </a:buClr>
              <a:buNone/>
              <a:defRPr/>
            </a:pPr>
            <a:r>
              <a:rPr lang="en-GB" sz="2666" dirty="0"/>
              <a:t>A better way…</a:t>
            </a:r>
          </a:p>
        </p:txBody>
      </p:sp>
      <p:pic>
        <p:nvPicPr>
          <p:cNvPr id="111" name="Picture 6" descr="Image result for search icon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036" y="1945315"/>
            <a:ext cx="414052" cy="41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email icon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544" y="1876256"/>
            <a:ext cx="447113" cy="44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6" descr="Image result for search icon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999" y="1941079"/>
            <a:ext cx="414052" cy="41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97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1" grpId="0" animBg="1"/>
      <p:bldP spid="82" grpId="0" animBg="1"/>
      <p:bldP spid="83" grpId="0" animBg="1"/>
      <p:bldP spid="84" grpId="0" animBg="1"/>
      <p:bldP spid="85" grpId="0" animBg="1"/>
      <p:bldP spid="86" grpId="0"/>
      <p:bldP spid="87" grpId="0"/>
      <p:bldP spid="88" grpId="0"/>
      <p:bldP spid="89" grpId="0"/>
      <p:bldP spid="90" grpId="0"/>
      <p:bldP spid="93" grpId="0"/>
      <p:bldP spid="97" grpId="0" animBg="1"/>
      <p:bldP spid="98" grpId="0"/>
      <p:bldP spid="99" grpId="0"/>
      <p:bldP spid="100" grpId="0"/>
      <p:bldP spid="101" grpId="0"/>
      <p:bldP spid="102" grpId="0"/>
      <p:bldP spid="104" grpId="0" animBg="1"/>
      <p:bldP spid="105" grpId="0" animBg="1"/>
      <p:bldP spid="106" grpId="0" animBg="1"/>
      <p:bldP spid="107" grpId="0" animBg="1"/>
      <p:bldP spid="109" grpId="0"/>
      <p:bldP spid="1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All Journey's Considered</a:t>
            </a:r>
            <a:endParaRPr lang="en-US" dirty="0"/>
          </a:p>
        </p:txBody>
      </p:sp>
      <p:sp>
        <p:nvSpPr>
          <p:cNvPr id="50" name="Can 49"/>
          <p:cNvSpPr/>
          <p:nvPr/>
        </p:nvSpPr>
        <p:spPr>
          <a:xfrm>
            <a:off x="500113" y="1717898"/>
            <a:ext cx="2083923" cy="1663473"/>
          </a:xfrm>
          <a:prstGeom prst="can">
            <a:avLst/>
          </a:prstGeom>
          <a:solidFill>
            <a:srgbClr val="4D4D4F"/>
          </a:solidFill>
          <a:ln w="12700" cap="flat" cmpd="sng" algn="ctr">
            <a:solidFill>
              <a:srgbClr val="4D4D4F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99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</a:t>
            </a:r>
          </a:p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i="1" kern="0" dirty="0" smtClean="0">
                <a:solidFill>
                  <a:prstClr val="white"/>
                </a:solidFill>
                <a:latin typeface="Calibri"/>
              </a:rPr>
              <a:t>(Cloud Storage)</a:t>
            </a:r>
            <a:endParaRPr kumimoji="0" lang="en-GB" sz="1400" b="0" i="1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73" name="Group 72"/>
          <p:cNvGrpSpPr>
            <a:grpSpLocks noChangeAspect="1"/>
          </p:cNvGrpSpPr>
          <p:nvPr/>
        </p:nvGrpSpPr>
        <p:grpSpPr>
          <a:xfrm>
            <a:off x="3447928" y="2293146"/>
            <a:ext cx="8113024" cy="3502362"/>
            <a:chOff x="7276768" y="4841010"/>
            <a:chExt cx="5102498" cy="2202728"/>
          </a:xfrm>
        </p:grpSpPr>
        <p:pic>
          <p:nvPicPr>
            <p:cNvPr id="74" name="Pictur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76768" y="4841010"/>
              <a:ext cx="2556709" cy="1203597"/>
            </a:xfrm>
            <a:prstGeom prst="rect">
              <a:avLst/>
            </a:prstGeom>
          </p:spPr>
        </p:pic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15457" y="4841010"/>
              <a:ext cx="2556709" cy="1203597"/>
            </a:xfrm>
            <a:prstGeom prst="rect">
              <a:avLst/>
            </a:prstGeom>
          </p:spPr>
        </p:pic>
        <p:pic>
          <p:nvPicPr>
            <p:cNvPr id="76" name="Picture 7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76768" y="5833041"/>
              <a:ext cx="2556709" cy="1203597"/>
            </a:xfrm>
            <a:prstGeom prst="rect">
              <a:avLst/>
            </a:prstGeom>
          </p:spPr>
        </p:pic>
        <p:pic>
          <p:nvPicPr>
            <p:cNvPr id="77" name="Picture 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22557" y="5840141"/>
              <a:ext cx="2556709" cy="1203597"/>
            </a:xfrm>
            <a:prstGeom prst="rect">
              <a:avLst/>
            </a:prstGeom>
          </p:spPr>
        </p:pic>
      </p:grpSp>
      <p:grpSp>
        <p:nvGrpSpPr>
          <p:cNvPr id="78" name="Group 77"/>
          <p:cNvGrpSpPr/>
          <p:nvPr/>
        </p:nvGrpSpPr>
        <p:grpSpPr>
          <a:xfrm>
            <a:off x="5475202" y="5950048"/>
            <a:ext cx="3837914" cy="707186"/>
            <a:chOff x="7685905" y="4686300"/>
            <a:chExt cx="3838914" cy="707370"/>
          </a:xfrm>
          <a:solidFill>
            <a:sysClr val="window" lastClr="FFFFFF"/>
          </a:solidFill>
        </p:grpSpPr>
        <p:sp>
          <p:nvSpPr>
            <p:cNvPr id="79" name="Oval 78"/>
            <p:cNvSpPr/>
            <p:nvPr/>
          </p:nvSpPr>
          <p:spPr>
            <a:xfrm>
              <a:off x="7685905" y="4784449"/>
              <a:ext cx="518891" cy="503999"/>
            </a:xfrm>
            <a:prstGeom prst="ellipse">
              <a:avLst/>
            </a:prstGeom>
            <a:grp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799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alibri" panose="020F0502020204030204" pitchFamily="34" charset="0"/>
                </a:rPr>
                <a:t>TP1</a:t>
              </a:r>
            </a:p>
          </p:txBody>
        </p:sp>
        <p:cxnSp>
          <p:nvCxnSpPr>
            <p:cNvPr id="80" name="Straight Arrow Connector 79"/>
            <p:cNvCxnSpPr>
              <a:stCxn id="79" idx="6"/>
              <a:endCxn id="83" idx="2"/>
            </p:cNvCxnSpPr>
            <p:nvPr/>
          </p:nvCxnSpPr>
          <p:spPr>
            <a:xfrm>
              <a:off x="8204796" y="5036449"/>
              <a:ext cx="343882" cy="0"/>
            </a:xfrm>
            <a:prstGeom prst="straightConnector1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1" name="Straight Arrow Connector 80"/>
            <p:cNvCxnSpPr>
              <a:stCxn id="83" idx="6"/>
              <a:endCxn id="84" idx="2"/>
            </p:cNvCxnSpPr>
            <p:nvPr/>
          </p:nvCxnSpPr>
          <p:spPr>
            <a:xfrm>
              <a:off x="9067570" y="5036449"/>
              <a:ext cx="311712" cy="0"/>
            </a:xfrm>
            <a:prstGeom prst="straightConnector1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2" name="Straight Arrow Connector 81"/>
            <p:cNvCxnSpPr>
              <a:stCxn id="84" idx="6"/>
            </p:cNvCxnSpPr>
            <p:nvPr/>
          </p:nvCxnSpPr>
          <p:spPr>
            <a:xfrm>
              <a:off x="9898173" y="5036449"/>
              <a:ext cx="814576" cy="0"/>
            </a:xfrm>
            <a:prstGeom prst="straightConnector1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83" name="Oval 82"/>
            <p:cNvSpPr/>
            <p:nvPr/>
          </p:nvSpPr>
          <p:spPr>
            <a:xfrm>
              <a:off x="8548678" y="4784449"/>
              <a:ext cx="518891" cy="503999"/>
            </a:xfrm>
            <a:prstGeom prst="ellipse">
              <a:avLst/>
            </a:prstGeom>
            <a:grp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799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alibri" panose="020F0502020204030204" pitchFamily="34" charset="0"/>
                </a:rPr>
                <a:t>TP2</a:t>
              </a:r>
            </a:p>
          </p:txBody>
        </p:sp>
        <p:sp>
          <p:nvSpPr>
            <p:cNvPr id="84" name="Oval 83"/>
            <p:cNvSpPr/>
            <p:nvPr/>
          </p:nvSpPr>
          <p:spPr>
            <a:xfrm>
              <a:off x="9379282" y="4784449"/>
              <a:ext cx="518891" cy="503999"/>
            </a:xfrm>
            <a:prstGeom prst="ellipse">
              <a:avLst/>
            </a:prstGeom>
            <a:grp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799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alibri" panose="020F0502020204030204" pitchFamily="34" charset="0"/>
                </a:rPr>
                <a:t>TP3</a:t>
              </a:r>
            </a:p>
          </p:txBody>
        </p:sp>
        <p:pic>
          <p:nvPicPr>
            <p:cNvPr id="85" name="Picture 84"/>
            <p:cNvPicPr>
              <a:picLocks noChangeAspect="1"/>
            </p:cNvPicPr>
            <p:nvPr/>
          </p:nvPicPr>
          <p:blipFill rotWithShape="1">
            <a:blip r:embed="rId3"/>
            <a:srcRect l="86625" b="52733"/>
            <a:stretch/>
          </p:blipFill>
          <p:spPr>
            <a:xfrm>
              <a:off x="10743485" y="4686300"/>
              <a:ext cx="781334" cy="707370"/>
            </a:xfrm>
            <a:prstGeom prst="rect">
              <a:avLst/>
            </a:prstGeom>
            <a:grpFill/>
            <a:ln w="38100">
              <a:noFill/>
            </a:ln>
          </p:spPr>
        </p:pic>
      </p:grpSp>
      <p:cxnSp>
        <p:nvCxnSpPr>
          <p:cNvPr id="4" name="Elbow Connector 3"/>
          <p:cNvCxnSpPr>
            <a:stCxn id="50" idx="3"/>
          </p:cNvCxnSpPr>
          <p:nvPr/>
        </p:nvCxnSpPr>
        <p:spPr>
          <a:xfrm rot="16200000" flipH="1">
            <a:off x="2044032" y="2879413"/>
            <a:ext cx="682634" cy="1686549"/>
          </a:xfrm>
          <a:prstGeom prst="bentConnector2">
            <a:avLst/>
          </a:prstGeom>
          <a:ln w="76200" cmpd="sng">
            <a:solidFill>
              <a:srgbClr val="159C49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3364089" y="1311364"/>
            <a:ext cx="8196863" cy="1652012"/>
          </a:xfrm>
        </p:spPr>
        <p:txBody>
          <a:bodyPr>
            <a:normAutofit/>
          </a:bodyPr>
          <a:lstStyle/>
          <a:p>
            <a:r>
              <a:rPr lang="en-GB" sz="2000" dirty="0" smtClean="0">
                <a:solidFill>
                  <a:schemeClr val="tx1"/>
                </a:solidFill>
              </a:rPr>
              <a:t>All customer digital </a:t>
            </a:r>
            <a:r>
              <a:rPr lang="en-GB" sz="2000" dirty="0">
                <a:solidFill>
                  <a:schemeClr val="tx1"/>
                </a:solidFill>
              </a:rPr>
              <a:t>j</a:t>
            </a:r>
            <a:r>
              <a:rPr lang="en-GB" sz="2000" dirty="0" smtClean="0">
                <a:solidFill>
                  <a:schemeClr val="tx1"/>
                </a:solidFill>
              </a:rPr>
              <a:t>ourneys are stitched together by user (cookie) IDs including those which convert and those which don’t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4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48882" y="1501370"/>
            <a:ext cx="10512862" cy="4350205"/>
          </a:xfrm>
        </p:spPr>
        <p:txBody>
          <a:bodyPr/>
          <a:lstStyle/>
          <a:p>
            <a:pPr marL="342797" indent="-342797">
              <a:buFont typeface="Arial"/>
              <a:buChar char="•"/>
            </a:pPr>
            <a:r>
              <a:rPr lang="en-US" dirty="0" smtClean="0"/>
              <a:t>Two questions to answer:</a:t>
            </a:r>
          </a:p>
          <a:p>
            <a:pPr marL="1006375" lvl="1" indent="-342797">
              <a:buFont typeface="Arial"/>
              <a:buChar char="•"/>
            </a:pPr>
            <a:r>
              <a:rPr lang="en-US" dirty="0" smtClean="0"/>
              <a:t>Given a user journey, what is the conversion probability</a:t>
            </a:r>
          </a:p>
          <a:p>
            <a:pPr marL="342797" indent="-342797">
              <a:buFont typeface="Arial"/>
              <a:buChar char="•"/>
            </a:pPr>
            <a:endParaRPr lang="en-US" dirty="0"/>
          </a:p>
          <a:p>
            <a:pPr marL="342797" indent="-342797">
              <a:buFont typeface="Arial"/>
              <a:buChar char="•"/>
            </a:pPr>
            <a:endParaRPr lang="en-US" dirty="0" smtClean="0"/>
          </a:p>
          <a:p>
            <a:pPr marL="342797" indent="-342797">
              <a:buFont typeface="Arial"/>
              <a:buChar char="•"/>
            </a:pPr>
            <a:endParaRPr lang="en-US" dirty="0"/>
          </a:p>
          <a:p>
            <a:pPr marL="1006375" lvl="1" indent="-342797">
              <a:buFont typeface="Arial"/>
              <a:buChar char="•"/>
            </a:pPr>
            <a:r>
              <a:rPr lang="en-US" dirty="0" smtClean="0"/>
              <a:t>What is the contribution/effect of each touch point on the conversion probability</a:t>
            </a:r>
          </a:p>
          <a:p>
            <a:pPr marL="342797" indent="-342797">
              <a:buFont typeface="Arial"/>
              <a:buChar char="•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Brief Outline Of Our </a:t>
            </a:r>
            <a:r>
              <a:rPr lang="en-US" dirty="0"/>
              <a:t>Approach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2427919" y="2440793"/>
            <a:ext cx="6283167" cy="1043526"/>
            <a:chOff x="1227055" y="2042525"/>
            <a:chExt cx="6284804" cy="1043798"/>
          </a:xfrm>
        </p:grpSpPr>
        <p:sp>
          <p:nvSpPr>
            <p:cNvPr id="20" name="Notched Right Arrow 19"/>
            <p:cNvSpPr/>
            <p:nvPr/>
          </p:nvSpPr>
          <p:spPr>
            <a:xfrm>
              <a:off x="5523299" y="2164296"/>
              <a:ext cx="1268396" cy="799912"/>
            </a:xfrm>
            <a:prstGeom prst="notched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>
                <a:solidFill>
                  <a:prstClr val="white"/>
                </a:solidFill>
              </a:endParaRPr>
            </a:p>
          </p:txBody>
        </p:sp>
        <p:pic>
          <p:nvPicPr>
            <p:cNvPr id="59" name="Picture 41" descr="http://graymatteranalytics.com/wp-content/uploads/2013/08/analyze_icon1.png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676" y="2155754"/>
              <a:ext cx="806055" cy="788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Notched Right Arrow 62"/>
            <p:cNvSpPr/>
            <p:nvPr/>
          </p:nvSpPr>
          <p:spPr>
            <a:xfrm>
              <a:off x="1398379" y="2166890"/>
              <a:ext cx="3052639" cy="822553"/>
            </a:xfrm>
            <a:prstGeom prst="notched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>
                <a:solidFill>
                  <a:prstClr val="white"/>
                </a:solidFill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227055" y="2370709"/>
              <a:ext cx="510971" cy="4149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>
                <a:solidFill>
                  <a:prstClr val="white"/>
                </a:solidFill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11552" y="2330673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495343" y="2330673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179135" y="2330673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802671" y="2850411"/>
              <a:ext cx="543446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Search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468700" y="2850411"/>
              <a:ext cx="534644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Display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126268" y="2850412"/>
              <a:ext cx="595056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Affiliate</a:t>
              </a:r>
            </a:p>
          </p:txBody>
        </p:sp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5266" y="2451348"/>
              <a:ext cx="365814" cy="319066"/>
            </a:xfrm>
            <a:prstGeom prst="rect">
              <a:avLst/>
            </a:prstGeom>
          </p:spPr>
        </p:pic>
        <p:pic>
          <p:nvPicPr>
            <p:cNvPr id="74" name="Picture 2" descr="http://icons.iconarchive.com/icons/custom-icon-design/mono-general-4/512/eye-icon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9987" y="2456158"/>
              <a:ext cx="280771" cy="2779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up 76"/>
            <p:cNvGrpSpPr/>
            <p:nvPr/>
          </p:nvGrpSpPr>
          <p:grpSpPr>
            <a:xfrm>
              <a:off x="6703074" y="2042525"/>
              <a:ext cx="808785" cy="791314"/>
              <a:chOff x="6703074" y="2042525"/>
              <a:chExt cx="808785" cy="791314"/>
            </a:xfrm>
          </p:grpSpPr>
          <p:pic>
            <p:nvPicPr>
              <p:cNvPr id="71" name="Picture 70"/>
              <p:cNvPicPr>
                <a:picLocks noChangeAspect="1"/>
              </p:cNvPicPr>
              <p:nvPr/>
            </p:nvPicPr>
            <p:blipFill rotWithShape="1">
              <a:blip r:embed="rId5"/>
              <a:srcRect l="86625" b="52733"/>
              <a:stretch/>
            </p:blipFill>
            <p:spPr>
              <a:xfrm>
                <a:off x="6703074" y="2108922"/>
                <a:ext cx="808785" cy="724917"/>
              </a:xfrm>
              <a:prstGeom prst="rect">
                <a:avLst/>
              </a:prstGeom>
            </p:spPr>
          </p:pic>
          <p:sp>
            <p:nvSpPr>
              <p:cNvPr id="75" name="Rectangle 74"/>
              <p:cNvSpPr/>
              <p:nvPr/>
            </p:nvSpPr>
            <p:spPr>
              <a:xfrm>
                <a:off x="6820939" y="2042525"/>
                <a:ext cx="319732" cy="4440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99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6874240" y="2051397"/>
                <a:ext cx="3907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799" b="1" i="1" dirty="0">
                    <a:solidFill>
                      <a:srgbClr val="0069B4"/>
                    </a:solidFill>
                    <a:latin typeface="Calibri" pitchFamily="34" charset="0"/>
                    <a:cs typeface="Calibri" pitchFamily="34" charset="0"/>
                  </a:rPr>
                  <a:t>?</a:t>
                </a:r>
              </a:p>
            </p:txBody>
          </p:sp>
        </p:grpSp>
      </p:grpSp>
      <p:grpSp>
        <p:nvGrpSpPr>
          <p:cNvPr id="110" name="Group 109"/>
          <p:cNvGrpSpPr/>
          <p:nvPr/>
        </p:nvGrpSpPr>
        <p:grpSpPr>
          <a:xfrm>
            <a:off x="2427919" y="4790914"/>
            <a:ext cx="6319168" cy="930327"/>
            <a:chOff x="2072170" y="3951066"/>
            <a:chExt cx="6320814" cy="930569"/>
          </a:xfrm>
        </p:grpSpPr>
        <p:sp>
          <p:nvSpPr>
            <p:cNvPr id="109" name="Rectangle 108"/>
            <p:cNvSpPr/>
            <p:nvPr/>
          </p:nvSpPr>
          <p:spPr>
            <a:xfrm>
              <a:off x="6075396" y="4086834"/>
              <a:ext cx="2317588" cy="39511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solidFill>
                  <a:prstClr val="white"/>
                </a:solidFill>
              </a:endParaRPr>
            </a:p>
          </p:txBody>
        </p:sp>
        <p:sp>
          <p:nvSpPr>
            <p:cNvPr id="83" name="Notched Right Arrow 82"/>
            <p:cNvSpPr/>
            <p:nvPr/>
          </p:nvSpPr>
          <p:spPr>
            <a:xfrm>
              <a:off x="2243494" y="3962202"/>
              <a:ext cx="3052639" cy="822553"/>
            </a:xfrm>
            <a:prstGeom prst="notched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>
                <a:solidFill>
                  <a:prstClr val="white"/>
                </a:solidFill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072170" y="4166021"/>
              <a:ext cx="510971" cy="4149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>
                <a:solidFill>
                  <a:prstClr val="white"/>
                </a:solidFill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656667" y="4125985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340458" y="4125985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024250" y="4125985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647786" y="4645723"/>
              <a:ext cx="543446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Search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313815" y="4645723"/>
              <a:ext cx="534644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Display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971383" y="4645724"/>
              <a:ext cx="595056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Affiliate</a:t>
              </a:r>
            </a:p>
          </p:txBody>
        </p: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381" y="4246660"/>
              <a:ext cx="365814" cy="319066"/>
            </a:xfrm>
            <a:prstGeom prst="rect">
              <a:avLst/>
            </a:prstGeom>
          </p:spPr>
        </p:pic>
        <p:pic>
          <p:nvPicPr>
            <p:cNvPr id="93" name="Picture 2" descr="http://icons.iconarchive.com/icons/custom-icon-design/mono-general-4/512/eye-icon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5102" y="4251470"/>
              <a:ext cx="280771" cy="2779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Rectangle 98"/>
            <p:cNvSpPr/>
            <p:nvPr/>
          </p:nvSpPr>
          <p:spPr>
            <a:xfrm>
              <a:off x="5750522" y="4078648"/>
              <a:ext cx="510971" cy="4149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>
                <a:solidFill>
                  <a:prstClr val="white"/>
                </a:solidFill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335019" y="4038612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7018810" y="4038612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7702602" y="4038612"/>
              <a:ext cx="499976" cy="46970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9" dirty="0">
                <a:solidFill>
                  <a:prstClr val="white"/>
                </a:solidFill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326138" y="4558350"/>
              <a:ext cx="543446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Search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6992167" y="4558350"/>
              <a:ext cx="534644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Display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7649735" y="4558351"/>
              <a:ext cx="595056" cy="23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33" dirty="0">
                  <a:solidFill>
                    <a:prstClr val="white">
                      <a:lumMod val="50000"/>
                    </a:prstClr>
                  </a:solidFill>
                  <a:latin typeface="Calibri" pitchFamily="34" charset="0"/>
                  <a:cs typeface="Calibri" pitchFamily="34" charset="0"/>
                </a:rPr>
                <a:t>Affiliate</a:t>
              </a:r>
            </a:p>
          </p:txBody>
        </p:sp>
        <p:pic>
          <p:nvPicPr>
            <p:cNvPr id="107" name="Picture 106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733" y="4159287"/>
              <a:ext cx="365814" cy="319066"/>
            </a:xfrm>
            <a:prstGeom prst="rect">
              <a:avLst/>
            </a:prstGeom>
          </p:spPr>
        </p:pic>
        <p:pic>
          <p:nvPicPr>
            <p:cNvPr id="108" name="Picture 2" descr="http://icons.iconarchive.com/icons/custom-icon-design/mono-general-4/512/eye-icon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3454" y="4164097"/>
              <a:ext cx="280771" cy="2779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41" descr="http://graymatteranalytics.com/wp-content/uploads/2013/08/analyze_icon1.png"/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1791" y="3951066"/>
              <a:ext cx="806055" cy="788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11" name="Chart 110"/>
          <p:cNvGraphicFramePr>
            <a:graphicFrameLocks/>
          </p:cNvGraphicFramePr>
          <p:nvPr>
            <p:extLst/>
          </p:nvPr>
        </p:nvGraphicFramePr>
        <p:xfrm>
          <a:off x="6405732" y="5572453"/>
          <a:ext cx="3897885" cy="711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47" name="Picture 6" descr="Image result for search icon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136" y="2786265"/>
            <a:ext cx="352238" cy="35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6" descr="Image result for search icon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654" y="5016900"/>
            <a:ext cx="352238" cy="35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Image result for search icon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312" y="4959447"/>
            <a:ext cx="352238" cy="35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Executive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3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11367372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Executive Summary – Top Line MTA Results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75064" y="1558833"/>
            <a:ext cx="2838994" cy="38491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chemeClr val="bg1"/>
                </a:solidFill>
                <a:latin typeface="+mj-lt"/>
              </a:rPr>
              <a:t>12% Efficiency Gain* for UK</a:t>
            </a:r>
          </a:p>
          <a:p>
            <a:pPr algn="ctr"/>
            <a:endParaRPr lang="en-GB" sz="20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GB" sz="2000" dirty="0" smtClean="0">
                <a:solidFill>
                  <a:schemeClr val="bg1"/>
                </a:solidFill>
                <a:latin typeface="+mj-lt"/>
              </a:rPr>
              <a:t>14% Efficiency Gain* for Europe</a:t>
            </a:r>
          </a:p>
          <a:p>
            <a:pPr algn="ctr"/>
            <a:endParaRPr lang="en-GB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36120" y="1558834"/>
            <a:ext cx="2838994" cy="38491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chemeClr val="bg1"/>
                </a:solidFill>
              </a:rPr>
              <a:t>Potential £</a:t>
            </a:r>
            <a:r>
              <a:rPr lang="en-GB" sz="2000" dirty="0">
                <a:solidFill>
                  <a:schemeClr val="bg1"/>
                </a:solidFill>
              </a:rPr>
              <a:t>600K Annual </a:t>
            </a:r>
            <a:r>
              <a:rPr lang="en-GB" sz="2000" dirty="0" smtClean="0">
                <a:solidFill>
                  <a:schemeClr val="bg1"/>
                </a:solidFill>
              </a:rPr>
              <a:t>Saving</a:t>
            </a:r>
          </a:p>
          <a:p>
            <a:pPr algn="ctr"/>
            <a:endParaRPr lang="en-GB" sz="2000" dirty="0">
              <a:solidFill>
                <a:schemeClr val="bg1"/>
              </a:solidFill>
            </a:endParaRPr>
          </a:p>
          <a:p>
            <a:pPr algn="ctr"/>
            <a:r>
              <a:rPr lang="en-GB" sz="2000" dirty="0" smtClean="0">
                <a:solidFill>
                  <a:schemeClr val="bg1"/>
                </a:solidFill>
              </a:rPr>
              <a:t>Across 5 Markets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21486" y="1558834"/>
            <a:ext cx="2838994" cy="38491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chemeClr val="bg1"/>
                </a:solidFill>
                <a:latin typeface="+mj-lt"/>
              </a:rPr>
              <a:t>Display is Undervalued by 79%</a:t>
            </a:r>
          </a:p>
          <a:p>
            <a:pPr algn="ctr"/>
            <a:endParaRPr lang="en-GB" sz="20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GB" sz="2000" dirty="0" smtClean="0">
                <a:solidFill>
                  <a:schemeClr val="bg1"/>
                </a:solidFill>
                <a:latin typeface="+mj-lt"/>
              </a:rPr>
              <a:t>PPC is Overvalued by 8%</a:t>
            </a:r>
          </a:p>
          <a:p>
            <a:pPr algn="ctr"/>
            <a:endParaRPr lang="en-GB" sz="20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GB" sz="2000" dirty="0" smtClean="0">
                <a:solidFill>
                  <a:schemeClr val="bg1"/>
                </a:solidFill>
                <a:latin typeface="+mj-lt"/>
              </a:rPr>
              <a:t>The Opportunity to Optimise within Channel is Even Greater  </a:t>
            </a:r>
            <a:endParaRPr lang="en-US" sz="2000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8869" y="6139543"/>
            <a:ext cx="10171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*Based on </a:t>
            </a:r>
            <a:r>
              <a:rPr lang="en-GB" sz="1400" dirty="0" smtClean="0">
                <a:solidFill>
                  <a:schemeClr val="bg1">
                    <a:lumMod val="50000"/>
                  </a:schemeClr>
                </a:solidFill>
              </a:rPr>
              <a:t>reallocating spend 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across digital channels PPC, Display, </a:t>
            </a:r>
            <a:r>
              <a:rPr lang="en-GB" sz="1400" dirty="0" smtClean="0">
                <a:solidFill>
                  <a:schemeClr val="bg1">
                    <a:lumMod val="50000"/>
                  </a:schemeClr>
                </a:solidFill>
              </a:rPr>
              <a:t>Affiliates and Social. 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Does not include intra channel optimisation which would be a further boost to increasing ROI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69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11367372" cy="663375"/>
          </a:xfrm>
        </p:spPr>
        <p:txBody>
          <a:bodyPr>
            <a:normAutofit/>
          </a:bodyPr>
          <a:lstStyle/>
          <a:p>
            <a:r>
              <a:rPr lang="en-GB" dirty="0"/>
              <a:t>Executive Summary </a:t>
            </a:r>
            <a:r>
              <a:rPr lang="en-GB" dirty="0" smtClean="0"/>
              <a:t>- Whole </a:t>
            </a:r>
            <a:r>
              <a:rPr lang="en-GB" dirty="0"/>
              <a:t>Period (July 14</a:t>
            </a:r>
            <a:r>
              <a:rPr lang="en-GB" baseline="30000" dirty="0"/>
              <a:t>th</a:t>
            </a:r>
            <a:r>
              <a:rPr lang="en-GB" dirty="0"/>
              <a:t> – December 5</a:t>
            </a:r>
            <a:r>
              <a:rPr lang="en-GB" baseline="30000" dirty="0"/>
              <a:t>th</a:t>
            </a:r>
            <a:r>
              <a:rPr lang="en-GB" dirty="0"/>
              <a:t> 2017)</a:t>
            </a:r>
            <a:endParaRPr lang="en-US" dirty="0"/>
          </a:p>
        </p:txBody>
      </p:sp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1056503" y="14913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/>
        </p:nvGraphicFramePr>
        <p:xfrm>
          <a:off x="6447109" y="14913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158035" y="4287522"/>
          <a:ext cx="4368936" cy="154819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92234">
                  <a:extLst>
                    <a:ext uri="{9D8B030D-6E8A-4147-A177-3AD203B41FA5}">
                      <a16:colId xmlns:a16="http://schemas.microsoft.com/office/drawing/2014/main" val="1044283751"/>
                    </a:ext>
                  </a:extLst>
                </a:gridCol>
                <a:gridCol w="1092234">
                  <a:extLst>
                    <a:ext uri="{9D8B030D-6E8A-4147-A177-3AD203B41FA5}">
                      <a16:colId xmlns:a16="http://schemas.microsoft.com/office/drawing/2014/main" val="2672815096"/>
                    </a:ext>
                  </a:extLst>
                </a:gridCol>
                <a:gridCol w="1092234">
                  <a:extLst>
                    <a:ext uri="{9D8B030D-6E8A-4147-A177-3AD203B41FA5}">
                      <a16:colId xmlns:a16="http://schemas.microsoft.com/office/drawing/2014/main" val="4022956166"/>
                    </a:ext>
                  </a:extLst>
                </a:gridCol>
                <a:gridCol w="1092234">
                  <a:extLst>
                    <a:ext uri="{9D8B030D-6E8A-4147-A177-3AD203B41FA5}">
                      <a16:colId xmlns:a16="http://schemas.microsoft.com/office/drawing/2014/main" val="881470505"/>
                    </a:ext>
                  </a:extLst>
                </a:gridCol>
              </a:tblGrid>
              <a:tr h="193524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% Change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4938937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Affiliate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19,301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14,958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-23%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873340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Display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11,848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22,558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90%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9136494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PPC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57,137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52,492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-8%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3998682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Social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100%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3189490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Email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2,477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1,895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-23%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2715067"/>
                  </a:ext>
                </a:extLst>
              </a:tr>
              <a:tr h="38704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Natural Search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9,643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7,660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-21%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80335005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692920" y="4287522"/>
          <a:ext cx="4105708" cy="154819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26427">
                  <a:extLst>
                    <a:ext uri="{9D8B030D-6E8A-4147-A177-3AD203B41FA5}">
                      <a16:colId xmlns:a16="http://schemas.microsoft.com/office/drawing/2014/main" val="1845188399"/>
                    </a:ext>
                  </a:extLst>
                </a:gridCol>
                <a:gridCol w="1026427">
                  <a:extLst>
                    <a:ext uri="{9D8B030D-6E8A-4147-A177-3AD203B41FA5}">
                      <a16:colId xmlns:a16="http://schemas.microsoft.com/office/drawing/2014/main" val="2830237287"/>
                    </a:ext>
                  </a:extLst>
                </a:gridCol>
                <a:gridCol w="1026427">
                  <a:extLst>
                    <a:ext uri="{9D8B030D-6E8A-4147-A177-3AD203B41FA5}">
                      <a16:colId xmlns:a16="http://schemas.microsoft.com/office/drawing/2014/main" val="4148968240"/>
                    </a:ext>
                  </a:extLst>
                </a:gridCol>
                <a:gridCol w="1026427">
                  <a:extLst>
                    <a:ext uri="{9D8B030D-6E8A-4147-A177-3AD203B41FA5}">
                      <a16:colId xmlns:a16="http://schemas.microsoft.com/office/drawing/2014/main" val="3211024979"/>
                    </a:ext>
                  </a:extLst>
                </a:gridCol>
              </a:tblGrid>
              <a:tr h="193524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% Change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248029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Affiliate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1,666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1,203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-28%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1655453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Display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5,256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8,087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54%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372879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PPC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13,492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12,814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-5%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838718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Social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26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100%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526293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Email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97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-16%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19636983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Natural Search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2,792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1,894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-32%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5848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44137" y="766354"/>
            <a:ext cx="1025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-</a:t>
            </a:r>
            <a:r>
              <a:rPr lang="en-GB" dirty="0"/>
              <a:t>D</a:t>
            </a:r>
            <a:r>
              <a:rPr lang="en-GB" dirty="0" smtClean="0"/>
              <a:t>isplay is undervalued, PPC and Affiliates are overvalued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3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12653074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Executive Summary – Part Period</a:t>
            </a:r>
            <a:r>
              <a:rPr lang="en-GB" dirty="0"/>
              <a:t>* (October 13</a:t>
            </a:r>
            <a:r>
              <a:rPr lang="en-GB" baseline="30000" dirty="0"/>
              <a:t>th</a:t>
            </a:r>
            <a:r>
              <a:rPr lang="en-GB" dirty="0"/>
              <a:t> – December 5</a:t>
            </a:r>
            <a:r>
              <a:rPr lang="en-GB" baseline="30000" dirty="0"/>
              <a:t>th</a:t>
            </a:r>
            <a:r>
              <a:rPr lang="en-GB" dirty="0"/>
              <a:t> 2017 )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3788" y="6234248"/>
            <a:ext cx="9835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chemeClr val="bg1">
                    <a:lumMod val="50000"/>
                  </a:schemeClr>
                </a:solidFill>
              </a:rPr>
              <a:t>*This period is cut to reflect the start of Natural Search and Email Tracking and will be used to calculate efficiency gains</a:t>
            </a:r>
            <a:endParaRPr lang="en-US" sz="1400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6060925"/>
              </p:ext>
            </p:extLst>
          </p:nvPr>
        </p:nvGraphicFramePr>
        <p:xfrm>
          <a:off x="943292" y="14826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969037"/>
              </p:ext>
            </p:extLst>
          </p:nvPr>
        </p:nvGraphicFramePr>
        <p:xfrm>
          <a:off x="6597557" y="14826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18914"/>
              </p:ext>
            </p:extLst>
          </p:nvPr>
        </p:nvGraphicFramePr>
        <p:xfrm>
          <a:off x="1180397" y="4257289"/>
          <a:ext cx="4105708" cy="1708083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26427">
                  <a:extLst>
                    <a:ext uri="{9D8B030D-6E8A-4147-A177-3AD203B41FA5}">
                      <a16:colId xmlns:a16="http://schemas.microsoft.com/office/drawing/2014/main" val="1347201364"/>
                    </a:ext>
                  </a:extLst>
                </a:gridCol>
                <a:gridCol w="1026427">
                  <a:extLst>
                    <a:ext uri="{9D8B030D-6E8A-4147-A177-3AD203B41FA5}">
                      <a16:colId xmlns:a16="http://schemas.microsoft.com/office/drawing/2014/main" val="3571470182"/>
                    </a:ext>
                  </a:extLst>
                </a:gridCol>
                <a:gridCol w="1026427">
                  <a:extLst>
                    <a:ext uri="{9D8B030D-6E8A-4147-A177-3AD203B41FA5}">
                      <a16:colId xmlns:a16="http://schemas.microsoft.com/office/drawing/2014/main" val="2586603854"/>
                    </a:ext>
                  </a:extLst>
                </a:gridCol>
                <a:gridCol w="1026427">
                  <a:extLst>
                    <a:ext uri="{9D8B030D-6E8A-4147-A177-3AD203B41FA5}">
                      <a16:colId xmlns:a16="http://schemas.microsoft.com/office/drawing/2014/main" val="3259352539"/>
                    </a:ext>
                  </a:extLst>
                </a:gridCol>
              </a:tblGrid>
              <a:tr h="18978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% Change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167094"/>
                  </a:ext>
                </a:extLst>
              </a:tr>
              <a:tr h="1897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Affiliate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5,491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3,846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-30%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9801527"/>
                  </a:ext>
                </a:extLst>
              </a:tr>
              <a:tr h="1897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Display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1,572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2,858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82%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6228356"/>
                  </a:ext>
                </a:extLst>
              </a:tr>
              <a:tr h="1897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PPC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13,600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12,161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-11%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4405037"/>
                  </a:ext>
                </a:extLst>
              </a:tr>
              <a:tr h="37957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Social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1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145%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88789246"/>
                  </a:ext>
                </a:extLst>
              </a:tr>
              <a:tr h="1897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Email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2,477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1,895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-23%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9476191"/>
                  </a:ext>
                </a:extLst>
              </a:tr>
              <a:tr h="37957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Natural Search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9,643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7,660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-21%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800176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995873"/>
              </p:ext>
            </p:extLst>
          </p:nvPr>
        </p:nvGraphicFramePr>
        <p:xfrm>
          <a:off x="6700289" y="4221240"/>
          <a:ext cx="4366536" cy="174413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91634">
                  <a:extLst>
                    <a:ext uri="{9D8B030D-6E8A-4147-A177-3AD203B41FA5}">
                      <a16:colId xmlns:a16="http://schemas.microsoft.com/office/drawing/2014/main" val="1261610776"/>
                    </a:ext>
                  </a:extLst>
                </a:gridCol>
                <a:gridCol w="1091634">
                  <a:extLst>
                    <a:ext uri="{9D8B030D-6E8A-4147-A177-3AD203B41FA5}">
                      <a16:colId xmlns:a16="http://schemas.microsoft.com/office/drawing/2014/main" val="1298537407"/>
                    </a:ext>
                  </a:extLst>
                </a:gridCol>
                <a:gridCol w="1091634">
                  <a:extLst>
                    <a:ext uri="{9D8B030D-6E8A-4147-A177-3AD203B41FA5}">
                      <a16:colId xmlns:a16="http://schemas.microsoft.com/office/drawing/2014/main" val="3829394882"/>
                    </a:ext>
                  </a:extLst>
                </a:gridCol>
                <a:gridCol w="1091634">
                  <a:extLst>
                    <a:ext uri="{9D8B030D-6E8A-4147-A177-3AD203B41FA5}">
                      <a16:colId xmlns:a16="http://schemas.microsoft.com/office/drawing/2014/main" val="2999708565"/>
                    </a:ext>
                  </a:extLst>
                </a:gridCol>
              </a:tblGrid>
              <a:tr h="19379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% Change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3915051"/>
                  </a:ext>
                </a:extLst>
              </a:tr>
              <a:tr h="19379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Affiliate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473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325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-31%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1958337"/>
                  </a:ext>
                </a:extLst>
              </a:tr>
              <a:tr h="19379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Display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850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1,249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47%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64209129"/>
                  </a:ext>
                </a:extLst>
              </a:tr>
              <a:tr h="19379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PPC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3,270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3,219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-2%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20629862"/>
                  </a:ext>
                </a:extLst>
              </a:tr>
              <a:tr h="38758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Social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3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42%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2334306"/>
                  </a:ext>
                </a:extLst>
              </a:tr>
              <a:tr h="19379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Email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115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97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-15%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4435111"/>
                  </a:ext>
                </a:extLst>
              </a:tr>
              <a:tr h="38758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Natural Search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>
                          <a:effectLst/>
                        </a:rPr>
                        <a:t>2,792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 smtClean="0">
                          <a:effectLst/>
                        </a:rPr>
                        <a:t>1,894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u="none" strike="noStrike" dirty="0">
                          <a:effectLst/>
                        </a:rPr>
                        <a:t>-32%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1802091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44137" y="766354"/>
            <a:ext cx="1143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-Cutting the period to capture full effect of Email and Natural Search does not change the overall 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3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Potential Savings from MTA Efficiency Gains</a:t>
            </a: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434180"/>
              </p:ext>
            </p:extLst>
          </p:nvPr>
        </p:nvGraphicFramePr>
        <p:xfrm>
          <a:off x="481738" y="8817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8776895"/>
              </p:ext>
            </p:extLst>
          </p:nvPr>
        </p:nvGraphicFramePr>
        <p:xfrm>
          <a:off x="6185852" y="8817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5126186"/>
              </p:ext>
            </p:extLst>
          </p:nvPr>
        </p:nvGraphicFramePr>
        <p:xfrm>
          <a:off x="481738" y="349866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4890758"/>
              </p:ext>
            </p:extLst>
          </p:nvPr>
        </p:nvGraphicFramePr>
        <p:xfrm>
          <a:off x="6185852" y="36249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33788" y="6365053"/>
            <a:ext cx="2628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GB" sz="1400" dirty="0" smtClean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t>or </a:t>
            </a:r>
            <a:r>
              <a:rPr lang="en-GB" sz="1400" smtClean="0">
                <a:solidFill>
                  <a:schemeClr val="bg1">
                    <a:lumMod val="50000"/>
                  </a:schemeClr>
                </a:solidFill>
              </a:rPr>
              <a:t>October 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– November 2017 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 rot="19270246">
            <a:off x="2445057" y="1884007"/>
            <a:ext cx="645362" cy="33182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74601" y="1734561"/>
            <a:ext cx="1123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12% Increase</a:t>
            </a:r>
            <a:endParaRPr lang="en-US" sz="1200" dirty="0"/>
          </a:p>
        </p:txBody>
      </p:sp>
      <p:sp>
        <p:nvSpPr>
          <p:cNvPr id="13" name="Rectangular Callout 12"/>
          <p:cNvSpPr/>
          <p:nvPr/>
        </p:nvSpPr>
        <p:spPr>
          <a:xfrm>
            <a:off x="4966653" y="3709483"/>
            <a:ext cx="1306285" cy="815948"/>
          </a:xfrm>
          <a:prstGeom prst="wedgeRectCallout">
            <a:avLst>
              <a:gd name="adj1" fmla="val 144501"/>
              <a:gd name="adj2" fmla="val 19324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bg1"/>
                </a:solidFill>
                <a:latin typeface="+mj-lt"/>
              </a:rPr>
              <a:t>Largest potential saving comes from the UK</a:t>
            </a:r>
            <a:endParaRPr lang="en-US" sz="1200" dirty="0" smtClean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241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Conversion Journeys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hevron 125"/>
          <p:cNvSpPr/>
          <p:nvPr/>
        </p:nvSpPr>
        <p:spPr>
          <a:xfrm>
            <a:off x="7147261" y="224192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51785" y="4388217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719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651786" y="1895299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1,722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651786" y="1183036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8,020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651785" y="2251430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1,256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651785" y="2963693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1,035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651785" y="3319824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899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651785" y="3675955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774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651785" y="4744349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658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651784" y="5456611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551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9337159" y="824094"/>
            <a:ext cx="1774987" cy="338466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accent6"/>
                </a:solidFill>
              </a:rPr>
              <a:t>Conversions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651786" y="2607561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1,156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6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10700156" cy="663375"/>
          </a:xfrm>
        </p:spPr>
        <p:txBody>
          <a:bodyPr>
            <a:normAutofit fontScale="90000"/>
          </a:bodyPr>
          <a:lstStyle/>
          <a:p>
            <a:r>
              <a:rPr lang="en-GB" dirty="0"/>
              <a:t>Most Common Multi-Touchpoint Pathways - July 14</a:t>
            </a:r>
            <a:r>
              <a:rPr lang="en-GB" baseline="30000" dirty="0"/>
              <a:t>th</a:t>
            </a:r>
            <a:r>
              <a:rPr lang="en-GB" dirty="0"/>
              <a:t> – December 5</a:t>
            </a:r>
            <a:r>
              <a:rPr lang="en-GB" baseline="30000" dirty="0"/>
              <a:t>th</a:t>
            </a:r>
            <a:r>
              <a:rPr lang="en-GB" dirty="0"/>
              <a:t> 2017 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51785" y="1539168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2,714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651785" y="4032086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749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9651784" y="5100480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554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651784" y="5812742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522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9651783" y="6168876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433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8" name="Chevron 77"/>
          <p:cNvSpPr/>
          <p:nvPr/>
        </p:nvSpPr>
        <p:spPr>
          <a:xfrm>
            <a:off x="7147262" y="1186715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84" name="Chevron 83"/>
          <p:cNvSpPr/>
          <p:nvPr/>
        </p:nvSpPr>
        <p:spPr>
          <a:xfrm>
            <a:off x="8311144" y="1192657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86" name="Chevron 85"/>
          <p:cNvSpPr/>
          <p:nvPr/>
        </p:nvSpPr>
        <p:spPr>
          <a:xfrm>
            <a:off x="7147262" y="1545859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87" name="Chevron 86"/>
          <p:cNvSpPr/>
          <p:nvPr/>
        </p:nvSpPr>
        <p:spPr>
          <a:xfrm>
            <a:off x="8311144" y="1551801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89" name="Chevron 88"/>
          <p:cNvSpPr/>
          <p:nvPr/>
        </p:nvSpPr>
        <p:spPr>
          <a:xfrm>
            <a:off x="5989984" y="1543749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109" name="Chevron 108"/>
          <p:cNvSpPr/>
          <p:nvPr/>
        </p:nvSpPr>
        <p:spPr>
          <a:xfrm>
            <a:off x="7151395" y="1887479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10" name="Chevron 109"/>
          <p:cNvSpPr/>
          <p:nvPr/>
        </p:nvSpPr>
        <p:spPr>
          <a:xfrm>
            <a:off x="8315277" y="1891798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11" name="Chevron 110"/>
          <p:cNvSpPr/>
          <p:nvPr/>
        </p:nvSpPr>
        <p:spPr>
          <a:xfrm>
            <a:off x="8315277" y="2241924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13" name="Chevron 112"/>
          <p:cNvSpPr/>
          <p:nvPr/>
        </p:nvSpPr>
        <p:spPr>
          <a:xfrm>
            <a:off x="8315277" y="2602010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20" name="Chevron 119"/>
          <p:cNvSpPr/>
          <p:nvPr/>
        </p:nvSpPr>
        <p:spPr>
          <a:xfrm>
            <a:off x="7157351" y="3682689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22" name="Chevron 121"/>
          <p:cNvSpPr/>
          <p:nvPr/>
        </p:nvSpPr>
        <p:spPr>
          <a:xfrm>
            <a:off x="8321233" y="3682689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23" name="Chevron 122"/>
          <p:cNvSpPr/>
          <p:nvPr/>
        </p:nvSpPr>
        <p:spPr>
          <a:xfrm>
            <a:off x="7157351" y="4040148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24" name="Chevron 123"/>
          <p:cNvSpPr/>
          <p:nvPr/>
        </p:nvSpPr>
        <p:spPr>
          <a:xfrm>
            <a:off x="8321233" y="4044467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25" name="Chevron 124"/>
          <p:cNvSpPr/>
          <p:nvPr/>
        </p:nvSpPr>
        <p:spPr>
          <a:xfrm>
            <a:off x="5989333" y="4045554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28" name="Chevron 127"/>
          <p:cNvSpPr/>
          <p:nvPr/>
        </p:nvSpPr>
        <p:spPr>
          <a:xfrm>
            <a:off x="7157351" y="4749103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29" name="Chevron 128"/>
          <p:cNvSpPr/>
          <p:nvPr/>
        </p:nvSpPr>
        <p:spPr>
          <a:xfrm>
            <a:off x="8321233" y="4753422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30" name="Chevron 129"/>
          <p:cNvSpPr/>
          <p:nvPr/>
        </p:nvSpPr>
        <p:spPr>
          <a:xfrm>
            <a:off x="6000073" y="4747731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131" name="Chevron 130"/>
          <p:cNvSpPr/>
          <p:nvPr/>
        </p:nvSpPr>
        <p:spPr>
          <a:xfrm>
            <a:off x="7157351" y="5116910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32" name="Chevron 131"/>
          <p:cNvSpPr/>
          <p:nvPr/>
        </p:nvSpPr>
        <p:spPr>
          <a:xfrm>
            <a:off x="8321233" y="5116910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41" name="Chevron 140"/>
          <p:cNvSpPr/>
          <p:nvPr/>
        </p:nvSpPr>
        <p:spPr>
          <a:xfrm>
            <a:off x="6000073" y="5116218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4" name="Chevron 153"/>
          <p:cNvSpPr/>
          <p:nvPr/>
        </p:nvSpPr>
        <p:spPr>
          <a:xfrm>
            <a:off x="7147262" y="5467096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5" name="Chevron 154"/>
          <p:cNvSpPr/>
          <p:nvPr/>
        </p:nvSpPr>
        <p:spPr>
          <a:xfrm>
            <a:off x="5989984" y="5466404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6" name="Chevron 155"/>
          <p:cNvSpPr/>
          <p:nvPr/>
        </p:nvSpPr>
        <p:spPr>
          <a:xfrm>
            <a:off x="8311144" y="546640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7" name="Chevron 156"/>
          <p:cNvSpPr/>
          <p:nvPr/>
        </p:nvSpPr>
        <p:spPr>
          <a:xfrm>
            <a:off x="7157351" y="6171052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8" name="Chevron 157"/>
          <p:cNvSpPr/>
          <p:nvPr/>
        </p:nvSpPr>
        <p:spPr>
          <a:xfrm>
            <a:off x="8321233" y="6171052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9" name="Chevron 158"/>
          <p:cNvSpPr/>
          <p:nvPr/>
        </p:nvSpPr>
        <p:spPr>
          <a:xfrm>
            <a:off x="6000073" y="6170360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60" name="Chevron 159"/>
          <p:cNvSpPr/>
          <p:nvPr/>
        </p:nvSpPr>
        <p:spPr>
          <a:xfrm>
            <a:off x="4831678" y="6169668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67" name="Chevron 66"/>
          <p:cNvSpPr/>
          <p:nvPr/>
        </p:nvSpPr>
        <p:spPr>
          <a:xfrm>
            <a:off x="7138178" y="2602010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72" name="Chevron 71"/>
          <p:cNvSpPr/>
          <p:nvPr/>
        </p:nvSpPr>
        <p:spPr>
          <a:xfrm>
            <a:off x="7151395" y="2967260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75" name="Chevron 74"/>
          <p:cNvSpPr/>
          <p:nvPr/>
        </p:nvSpPr>
        <p:spPr>
          <a:xfrm>
            <a:off x="8315277" y="2973202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77" name="Chevron 76"/>
          <p:cNvSpPr/>
          <p:nvPr/>
        </p:nvSpPr>
        <p:spPr>
          <a:xfrm>
            <a:off x="5994117" y="2965150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79" name="Chevron 78"/>
          <p:cNvSpPr/>
          <p:nvPr/>
        </p:nvSpPr>
        <p:spPr>
          <a:xfrm>
            <a:off x="4829644" y="297054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80" name="Chevron 79"/>
          <p:cNvSpPr/>
          <p:nvPr/>
        </p:nvSpPr>
        <p:spPr>
          <a:xfrm>
            <a:off x="7170454" y="3315057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 smtClean="0">
                <a:solidFill>
                  <a:schemeClr val="bg1"/>
                </a:solidFill>
              </a:rPr>
              <a:t>Natural Search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81" name="Chevron 80"/>
          <p:cNvSpPr/>
          <p:nvPr/>
        </p:nvSpPr>
        <p:spPr>
          <a:xfrm>
            <a:off x="8334336" y="3320999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 smtClean="0">
                <a:solidFill>
                  <a:schemeClr val="bg1"/>
                </a:solidFill>
              </a:rPr>
              <a:t>Natural Search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91" name="Chevron 90"/>
          <p:cNvSpPr/>
          <p:nvPr/>
        </p:nvSpPr>
        <p:spPr>
          <a:xfrm>
            <a:off x="7124961" y="438773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94" name="Chevron 93"/>
          <p:cNvSpPr/>
          <p:nvPr/>
        </p:nvSpPr>
        <p:spPr>
          <a:xfrm>
            <a:off x="8308016" y="4387734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 smtClean="0">
                <a:solidFill>
                  <a:schemeClr val="bg1"/>
                </a:solidFill>
              </a:rPr>
              <a:t>Natural Search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95" name="Chevron 94"/>
          <p:cNvSpPr/>
          <p:nvPr/>
        </p:nvSpPr>
        <p:spPr>
          <a:xfrm>
            <a:off x="7157351" y="5805481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96" name="Chevron 95"/>
          <p:cNvSpPr/>
          <p:nvPr/>
        </p:nvSpPr>
        <p:spPr>
          <a:xfrm>
            <a:off x="8321233" y="5811423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97" name="Chevron 96"/>
          <p:cNvSpPr/>
          <p:nvPr/>
        </p:nvSpPr>
        <p:spPr>
          <a:xfrm>
            <a:off x="6000073" y="5803371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98" name="Chevron 97"/>
          <p:cNvSpPr/>
          <p:nvPr/>
        </p:nvSpPr>
        <p:spPr>
          <a:xfrm>
            <a:off x="4835600" y="5808765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99" name="Chevron 98"/>
          <p:cNvSpPr/>
          <p:nvPr/>
        </p:nvSpPr>
        <p:spPr>
          <a:xfrm>
            <a:off x="3671127" y="5812742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100" name="Left Brace 99"/>
          <p:cNvSpPr/>
          <p:nvPr/>
        </p:nvSpPr>
        <p:spPr>
          <a:xfrm>
            <a:off x="3731976" y="1371600"/>
            <a:ext cx="1048075" cy="4905895"/>
          </a:xfrm>
          <a:prstGeom prst="leftBrace">
            <a:avLst>
              <a:gd name="adj1" fmla="val 61991"/>
              <a:gd name="adj2" fmla="val 4893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102" name="TextBox 101"/>
          <p:cNvSpPr txBox="1"/>
          <p:nvPr/>
        </p:nvSpPr>
        <p:spPr>
          <a:xfrm>
            <a:off x="262316" y="1754718"/>
            <a:ext cx="38927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399" b="1" dirty="0" smtClean="0">
                <a:solidFill>
                  <a:srgbClr val="00B050"/>
                </a:solidFill>
              </a:rPr>
              <a:t>61.5% </a:t>
            </a:r>
            <a:r>
              <a:rPr lang="en-GB" sz="2399" dirty="0" smtClean="0">
                <a:solidFill>
                  <a:schemeClr val="accent6"/>
                </a:solidFill>
              </a:rPr>
              <a:t>of </a:t>
            </a:r>
            <a:r>
              <a:rPr lang="en-GB" sz="2399" dirty="0">
                <a:solidFill>
                  <a:schemeClr val="accent6"/>
                </a:solidFill>
              </a:rPr>
              <a:t>pathways (digital consumer journeys) have at least two Touchpoints</a:t>
            </a:r>
          </a:p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399" dirty="0">
                <a:solidFill>
                  <a:schemeClr val="accent6"/>
                </a:solidFill>
              </a:rPr>
              <a:t>The top 15 pathways here represent almost </a:t>
            </a:r>
            <a:r>
              <a:rPr lang="en-GB" sz="2399" b="1" dirty="0" smtClean="0">
                <a:solidFill>
                  <a:srgbClr val="00B050"/>
                </a:solidFill>
              </a:rPr>
              <a:t>34.4% </a:t>
            </a:r>
            <a:r>
              <a:rPr lang="en-GB" sz="2399" dirty="0" smtClean="0">
                <a:solidFill>
                  <a:schemeClr val="accent6"/>
                </a:solidFill>
              </a:rPr>
              <a:t>of </a:t>
            </a:r>
            <a:r>
              <a:rPr lang="en-GB" sz="2399" dirty="0">
                <a:solidFill>
                  <a:schemeClr val="accent6"/>
                </a:solidFill>
              </a:rPr>
              <a:t>all Multi-Touchpoint </a:t>
            </a:r>
            <a:r>
              <a:rPr lang="en-GB" sz="2399" dirty="0" smtClean="0">
                <a:solidFill>
                  <a:schemeClr val="accent6"/>
                </a:solidFill>
              </a:rPr>
              <a:t>journeys</a:t>
            </a: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Font typeface="Arial" panose="020B0604020202020204" pitchFamily="34" charset="0"/>
              <a:buChar char="•"/>
            </a:pP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Font typeface="Arial" panose="020B0604020202020204" pitchFamily="34" charset="0"/>
              <a:buChar char="•"/>
            </a:pPr>
            <a:endParaRPr lang="en-US" sz="2399" dirty="0"/>
          </a:p>
        </p:txBody>
      </p:sp>
    </p:spTree>
    <p:extLst>
      <p:ext uri="{BB962C8B-B14F-4D97-AF65-F5344CB8AC3E}">
        <p14:creationId xmlns:p14="http://schemas.microsoft.com/office/powerpoint/2010/main" val="383400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hevron 125"/>
          <p:cNvSpPr/>
          <p:nvPr/>
        </p:nvSpPr>
        <p:spPr>
          <a:xfrm>
            <a:off x="7147261" y="224192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51785" y="4388217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203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651786" y="1895299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872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651786" y="1183036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1,824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651785" y="2251430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567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651785" y="2963693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361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651785" y="3319824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350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651785" y="3675955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308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651785" y="4744349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198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651784" y="5456611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189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9337159" y="824094"/>
            <a:ext cx="1774987" cy="338466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accent6"/>
                </a:solidFill>
              </a:rPr>
              <a:t>Conversions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651786" y="2607561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415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6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11131477" cy="663375"/>
          </a:xfrm>
        </p:spPr>
        <p:txBody>
          <a:bodyPr>
            <a:normAutofit fontScale="90000"/>
          </a:bodyPr>
          <a:lstStyle/>
          <a:p>
            <a:r>
              <a:rPr lang="en-GB" dirty="0"/>
              <a:t>Most Common Multi-Touchpoint Pathways - </a:t>
            </a:r>
            <a:r>
              <a:rPr lang="en-GB" dirty="0" smtClean="0"/>
              <a:t>October 13</a:t>
            </a:r>
            <a:r>
              <a:rPr lang="en-GB" baseline="30000" dirty="0" smtClean="0"/>
              <a:t>th</a:t>
            </a:r>
            <a:r>
              <a:rPr lang="en-GB" dirty="0" smtClean="0"/>
              <a:t> </a:t>
            </a:r>
            <a:r>
              <a:rPr lang="en-GB" dirty="0"/>
              <a:t>– December 5</a:t>
            </a:r>
            <a:r>
              <a:rPr lang="en-GB" baseline="30000" dirty="0"/>
              <a:t>th</a:t>
            </a:r>
            <a:r>
              <a:rPr lang="en-GB" dirty="0"/>
              <a:t> 2017 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51785" y="1539168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941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651785" y="4032086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298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9651784" y="5100480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193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651784" y="5812742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180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9651783" y="6168876"/>
            <a:ext cx="1145733" cy="2893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166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8" name="Chevron 77"/>
          <p:cNvSpPr/>
          <p:nvPr/>
        </p:nvSpPr>
        <p:spPr>
          <a:xfrm>
            <a:off x="7147262" y="1186715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84" name="Chevron 83"/>
          <p:cNvSpPr/>
          <p:nvPr/>
        </p:nvSpPr>
        <p:spPr>
          <a:xfrm>
            <a:off x="8311144" y="1192657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86" name="Chevron 85"/>
          <p:cNvSpPr/>
          <p:nvPr/>
        </p:nvSpPr>
        <p:spPr>
          <a:xfrm>
            <a:off x="7147262" y="1545859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 smtClean="0">
                <a:solidFill>
                  <a:schemeClr val="bg1"/>
                </a:solidFill>
              </a:rPr>
              <a:t>Natural Search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87" name="Chevron 86"/>
          <p:cNvSpPr/>
          <p:nvPr/>
        </p:nvSpPr>
        <p:spPr>
          <a:xfrm>
            <a:off x="8311144" y="1551801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 smtClean="0">
                <a:solidFill>
                  <a:schemeClr val="bg1"/>
                </a:solidFill>
              </a:rPr>
              <a:t>Natural Search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113" name="Chevron 112"/>
          <p:cNvSpPr/>
          <p:nvPr/>
        </p:nvSpPr>
        <p:spPr>
          <a:xfrm>
            <a:off x="8315277" y="224192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14" name="Chevron 113"/>
          <p:cNvSpPr/>
          <p:nvPr/>
        </p:nvSpPr>
        <p:spPr>
          <a:xfrm>
            <a:off x="5979245" y="224192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123" name="Chevron 122"/>
          <p:cNvSpPr/>
          <p:nvPr/>
        </p:nvSpPr>
        <p:spPr>
          <a:xfrm>
            <a:off x="7151395" y="4044001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Natural Search</a:t>
            </a:r>
          </a:p>
        </p:txBody>
      </p:sp>
      <p:sp>
        <p:nvSpPr>
          <p:cNvPr id="124" name="Chevron 123"/>
          <p:cNvSpPr/>
          <p:nvPr/>
        </p:nvSpPr>
        <p:spPr>
          <a:xfrm>
            <a:off x="8315277" y="4048320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Natural Search</a:t>
            </a:r>
          </a:p>
        </p:txBody>
      </p:sp>
      <p:sp>
        <p:nvSpPr>
          <p:cNvPr id="125" name="Chevron 124"/>
          <p:cNvSpPr/>
          <p:nvPr/>
        </p:nvSpPr>
        <p:spPr>
          <a:xfrm>
            <a:off x="5983377" y="4049407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Natural Search</a:t>
            </a:r>
          </a:p>
        </p:txBody>
      </p:sp>
      <p:sp>
        <p:nvSpPr>
          <p:cNvPr id="128" name="Chevron 127"/>
          <p:cNvSpPr/>
          <p:nvPr/>
        </p:nvSpPr>
        <p:spPr>
          <a:xfrm>
            <a:off x="7138178" y="2938909"/>
            <a:ext cx="1241295" cy="28934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Email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29" name="Chevron 128"/>
          <p:cNvSpPr/>
          <p:nvPr/>
        </p:nvSpPr>
        <p:spPr>
          <a:xfrm>
            <a:off x="8302060" y="2943228"/>
            <a:ext cx="1241295" cy="28934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Email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4" name="Chevron 153"/>
          <p:cNvSpPr/>
          <p:nvPr/>
        </p:nvSpPr>
        <p:spPr>
          <a:xfrm>
            <a:off x="7151395" y="5099218"/>
            <a:ext cx="1241295" cy="28934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Display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6" name="Chevron 155"/>
          <p:cNvSpPr/>
          <p:nvPr/>
        </p:nvSpPr>
        <p:spPr>
          <a:xfrm>
            <a:off x="8315277" y="5098526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72" name="Chevron 71"/>
          <p:cNvSpPr/>
          <p:nvPr/>
        </p:nvSpPr>
        <p:spPr>
          <a:xfrm>
            <a:off x="7151395" y="1895299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75" name="Chevron 74"/>
          <p:cNvSpPr/>
          <p:nvPr/>
        </p:nvSpPr>
        <p:spPr>
          <a:xfrm>
            <a:off x="8315277" y="1901241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 smtClean="0">
                <a:solidFill>
                  <a:schemeClr val="bg1"/>
                </a:solidFill>
              </a:rPr>
              <a:t>Natural Search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77" name="Chevron 76"/>
          <p:cNvSpPr/>
          <p:nvPr/>
        </p:nvSpPr>
        <p:spPr>
          <a:xfrm>
            <a:off x="7138179" y="3316930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79" name="Chevron 78"/>
          <p:cNvSpPr/>
          <p:nvPr/>
        </p:nvSpPr>
        <p:spPr>
          <a:xfrm>
            <a:off x="8306195" y="3316930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80" name="Chevron 79"/>
          <p:cNvSpPr/>
          <p:nvPr/>
        </p:nvSpPr>
        <p:spPr>
          <a:xfrm>
            <a:off x="7154150" y="2596713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81" name="Chevron 80"/>
          <p:cNvSpPr/>
          <p:nvPr/>
        </p:nvSpPr>
        <p:spPr>
          <a:xfrm>
            <a:off x="8318032" y="2592868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83" name="Chevron 82"/>
          <p:cNvSpPr/>
          <p:nvPr/>
        </p:nvSpPr>
        <p:spPr>
          <a:xfrm>
            <a:off x="7154150" y="3686542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 smtClean="0">
                <a:solidFill>
                  <a:schemeClr val="bg1"/>
                </a:solidFill>
              </a:rPr>
              <a:t>Natural Search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90" name="Chevron 89"/>
          <p:cNvSpPr/>
          <p:nvPr/>
        </p:nvSpPr>
        <p:spPr>
          <a:xfrm>
            <a:off x="8318032" y="3688346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91" name="Chevron 90"/>
          <p:cNvSpPr/>
          <p:nvPr/>
        </p:nvSpPr>
        <p:spPr>
          <a:xfrm>
            <a:off x="7140655" y="4393307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93" name="Chevron 92"/>
          <p:cNvSpPr/>
          <p:nvPr/>
        </p:nvSpPr>
        <p:spPr>
          <a:xfrm>
            <a:off x="5983377" y="4393307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94" name="Chevron 93"/>
          <p:cNvSpPr/>
          <p:nvPr/>
        </p:nvSpPr>
        <p:spPr>
          <a:xfrm>
            <a:off x="8318032" y="4393307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Natural Search</a:t>
            </a:r>
          </a:p>
        </p:txBody>
      </p:sp>
      <p:sp>
        <p:nvSpPr>
          <p:cNvPr id="95" name="Chevron 94"/>
          <p:cNvSpPr/>
          <p:nvPr/>
        </p:nvSpPr>
        <p:spPr>
          <a:xfrm>
            <a:off x="7138178" y="4740112"/>
            <a:ext cx="1241295" cy="289342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Natural Search</a:t>
            </a:r>
          </a:p>
        </p:txBody>
      </p:sp>
      <p:sp>
        <p:nvSpPr>
          <p:cNvPr id="96" name="Chevron 95"/>
          <p:cNvSpPr/>
          <p:nvPr/>
        </p:nvSpPr>
        <p:spPr>
          <a:xfrm>
            <a:off x="8311144" y="4744349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05" name="Chevron 104"/>
          <p:cNvSpPr/>
          <p:nvPr/>
        </p:nvSpPr>
        <p:spPr>
          <a:xfrm>
            <a:off x="7136523" y="5452703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106" name="Chevron 105"/>
          <p:cNvSpPr/>
          <p:nvPr/>
        </p:nvSpPr>
        <p:spPr>
          <a:xfrm>
            <a:off x="5979245" y="5452703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Paid Search</a:t>
            </a:r>
          </a:p>
        </p:txBody>
      </p:sp>
      <p:sp>
        <p:nvSpPr>
          <p:cNvPr id="107" name="Chevron 106"/>
          <p:cNvSpPr/>
          <p:nvPr/>
        </p:nvSpPr>
        <p:spPr>
          <a:xfrm>
            <a:off x="8318032" y="5459074"/>
            <a:ext cx="1241295" cy="289342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Paid Search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08" name="Chevron 107"/>
          <p:cNvSpPr/>
          <p:nvPr/>
        </p:nvSpPr>
        <p:spPr>
          <a:xfrm>
            <a:off x="7136523" y="5810116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17" name="Chevron 116"/>
          <p:cNvSpPr/>
          <p:nvPr/>
        </p:nvSpPr>
        <p:spPr>
          <a:xfrm>
            <a:off x="8300405" y="5806271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19" name="Chevron 118"/>
          <p:cNvSpPr/>
          <p:nvPr/>
        </p:nvSpPr>
        <p:spPr>
          <a:xfrm>
            <a:off x="5979245" y="5806188"/>
            <a:ext cx="1241295" cy="289342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</a:rPr>
              <a:t>Affiliate</a:t>
            </a:r>
          </a:p>
        </p:txBody>
      </p:sp>
      <p:sp>
        <p:nvSpPr>
          <p:cNvPr id="121" name="Chevron 120"/>
          <p:cNvSpPr/>
          <p:nvPr/>
        </p:nvSpPr>
        <p:spPr>
          <a:xfrm>
            <a:off x="7136523" y="6168876"/>
            <a:ext cx="1241295" cy="28934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Email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27" name="Chevron 126"/>
          <p:cNvSpPr/>
          <p:nvPr/>
        </p:nvSpPr>
        <p:spPr>
          <a:xfrm>
            <a:off x="8300405" y="6168876"/>
            <a:ext cx="1241295" cy="28934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Email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36" name="Chevron 135"/>
          <p:cNvSpPr/>
          <p:nvPr/>
        </p:nvSpPr>
        <p:spPr>
          <a:xfrm>
            <a:off x="5972641" y="6168876"/>
            <a:ext cx="1241295" cy="28934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1050" b="1" dirty="0" smtClean="0">
                <a:solidFill>
                  <a:schemeClr val="bg1"/>
                </a:solidFill>
              </a:rPr>
              <a:t>Email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37" name="Left Brace 136"/>
          <p:cNvSpPr/>
          <p:nvPr/>
        </p:nvSpPr>
        <p:spPr>
          <a:xfrm>
            <a:off x="4698675" y="1235482"/>
            <a:ext cx="1048075" cy="4962057"/>
          </a:xfrm>
          <a:prstGeom prst="leftBrace">
            <a:avLst>
              <a:gd name="adj1" fmla="val 61991"/>
              <a:gd name="adj2" fmla="val 4893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139" name="TextBox 138"/>
          <p:cNvSpPr txBox="1"/>
          <p:nvPr/>
        </p:nvSpPr>
        <p:spPr>
          <a:xfrm>
            <a:off x="388189" y="2035835"/>
            <a:ext cx="4402943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399" b="1" dirty="0" smtClean="0">
                <a:solidFill>
                  <a:srgbClr val="00B050"/>
                </a:solidFill>
              </a:rPr>
              <a:t>59.8% </a:t>
            </a:r>
            <a:r>
              <a:rPr lang="en-GB" sz="2399" dirty="0" smtClean="0">
                <a:solidFill>
                  <a:schemeClr val="accent6"/>
                </a:solidFill>
              </a:rPr>
              <a:t>of </a:t>
            </a:r>
            <a:r>
              <a:rPr lang="en-GB" sz="2399" dirty="0">
                <a:solidFill>
                  <a:schemeClr val="accent6"/>
                </a:solidFill>
              </a:rPr>
              <a:t>pathways (digital consumer journeys) have at least two Touchpoints</a:t>
            </a:r>
          </a:p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399" dirty="0">
                <a:solidFill>
                  <a:schemeClr val="accent6"/>
                </a:solidFill>
              </a:rPr>
              <a:t>The top 15 pathways here represent almost </a:t>
            </a:r>
            <a:r>
              <a:rPr lang="en-GB" sz="2399" b="1" dirty="0" smtClean="0">
                <a:solidFill>
                  <a:srgbClr val="00B050"/>
                </a:solidFill>
              </a:rPr>
              <a:t>35.2% </a:t>
            </a:r>
            <a:r>
              <a:rPr lang="en-GB" sz="2399" dirty="0" smtClean="0">
                <a:solidFill>
                  <a:schemeClr val="accent6"/>
                </a:solidFill>
              </a:rPr>
              <a:t>of </a:t>
            </a:r>
            <a:r>
              <a:rPr lang="en-GB" sz="2399" dirty="0">
                <a:solidFill>
                  <a:schemeClr val="accent6"/>
                </a:solidFill>
              </a:rPr>
              <a:t>all Multi-Touchpoint </a:t>
            </a:r>
            <a:r>
              <a:rPr lang="en-GB" sz="2399" dirty="0" smtClean="0">
                <a:solidFill>
                  <a:schemeClr val="accent6"/>
                </a:solidFill>
              </a:rPr>
              <a:t>journeys</a:t>
            </a: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Font typeface="Arial" panose="020B0604020202020204" pitchFamily="34" charset="0"/>
              <a:buChar char="•"/>
            </a:pPr>
            <a:endParaRPr lang="en-GB" sz="2399" dirty="0">
              <a:solidFill>
                <a:schemeClr val="accent6"/>
              </a:solidFill>
            </a:endParaRPr>
          </a:p>
          <a:p>
            <a:pPr marL="342797" indent="-342797">
              <a:buFont typeface="Arial" panose="020B0604020202020204" pitchFamily="34" charset="0"/>
              <a:buChar char="•"/>
            </a:pPr>
            <a:endParaRPr lang="en-US" sz="2399" dirty="0"/>
          </a:p>
        </p:txBody>
      </p:sp>
    </p:spTree>
    <p:extLst>
      <p:ext uri="{BB962C8B-B14F-4D97-AF65-F5344CB8AC3E}">
        <p14:creationId xmlns:p14="http://schemas.microsoft.com/office/powerpoint/2010/main" val="309931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7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7925910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Total Attribution Results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88521" y="1689256"/>
          <a:ext cx="4805615" cy="4125825"/>
        </p:xfrm>
        <a:graphic>
          <a:graphicData uri="http://schemas.openxmlformats.org/drawingml/2006/table">
            <a:tbl>
              <a:tblPr/>
              <a:tblGrid>
                <a:gridCol w="1077623">
                  <a:extLst>
                    <a:ext uri="{9D8B030D-6E8A-4147-A177-3AD203B41FA5}">
                      <a16:colId xmlns:a16="http://schemas.microsoft.com/office/drawing/2014/main" val="498618514"/>
                    </a:ext>
                  </a:extLst>
                </a:gridCol>
                <a:gridCol w="1194122">
                  <a:extLst>
                    <a:ext uri="{9D8B030D-6E8A-4147-A177-3AD203B41FA5}">
                      <a16:colId xmlns:a16="http://schemas.microsoft.com/office/drawing/2014/main" val="2504363173"/>
                    </a:ext>
                  </a:extLst>
                </a:gridCol>
                <a:gridCol w="1266935">
                  <a:extLst>
                    <a:ext uri="{9D8B030D-6E8A-4147-A177-3AD203B41FA5}">
                      <a16:colId xmlns:a16="http://schemas.microsoft.com/office/drawing/2014/main" val="3197313720"/>
                    </a:ext>
                  </a:extLst>
                </a:gridCol>
                <a:gridCol w="1266935">
                  <a:extLst>
                    <a:ext uri="{9D8B030D-6E8A-4147-A177-3AD203B41FA5}">
                      <a16:colId xmlns:a16="http://schemas.microsoft.com/office/drawing/2014/main" val="1824665253"/>
                    </a:ext>
                  </a:extLst>
                </a:gridCol>
              </a:tblGrid>
              <a:tr h="107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Channel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%MTA Difference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179093"/>
                  </a:ext>
                </a:extLst>
              </a:tr>
              <a:tr h="107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167242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20,966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16,162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-22.9%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643331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17,104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30,646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79.2%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317476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70,628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65,305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-7.5%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525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35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60537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2,592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1,992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-23.1%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27271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12,436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9,554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-23.2%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5807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123,744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123,694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119029"/>
                  </a:ext>
                </a:extLst>
              </a:tr>
              <a:tr h="107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UK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756404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19,301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14,958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-22.5%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082909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11,848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22,558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90.4%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676313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57,137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52,492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825119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8729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2,477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1,895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-23.5%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379476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9,643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7,660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9967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100,410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99,573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497162"/>
                  </a:ext>
                </a:extLst>
              </a:tr>
              <a:tr h="107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Euro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08608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1,666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1,203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-27.7%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150501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5,256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8,087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53.9%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028868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13,492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12,814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-5.0%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45627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95.5%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409446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115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97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-15.5%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407965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2,792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1,894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-32.2%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708295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23,334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24,121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149625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3035641"/>
              </p:ext>
            </p:extLst>
          </p:nvPr>
        </p:nvGraphicFramePr>
        <p:xfrm>
          <a:off x="6370008" y="1779917"/>
          <a:ext cx="5301532" cy="3723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69341" y="6158521"/>
            <a:ext cx="93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64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888521" y="1689256"/>
          <a:ext cx="4805616" cy="4125825"/>
        </p:xfrm>
        <a:graphic>
          <a:graphicData uri="http://schemas.openxmlformats.org/drawingml/2006/table">
            <a:tbl>
              <a:tblPr/>
              <a:tblGrid>
                <a:gridCol w="1074368">
                  <a:extLst>
                    <a:ext uri="{9D8B030D-6E8A-4147-A177-3AD203B41FA5}">
                      <a16:colId xmlns:a16="http://schemas.microsoft.com/office/drawing/2014/main" val="889440310"/>
                    </a:ext>
                  </a:extLst>
                </a:gridCol>
                <a:gridCol w="1190515">
                  <a:extLst>
                    <a:ext uri="{9D8B030D-6E8A-4147-A177-3AD203B41FA5}">
                      <a16:colId xmlns:a16="http://schemas.microsoft.com/office/drawing/2014/main" val="675219768"/>
                    </a:ext>
                  </a:extLst>
                </a:gridCol>
                <a:gridCol w="1263108">
                  <a:extLst>
                    <a:ext uri="{9D8B030D-6E8A-4147-A177-3AD203B41FA5}">
                      <a16:colId xmlns:a16="http://schemas.microsoft.com/office/drawing/2014/main" val="3442017335"/>
                    </a:ext>
                  </a:extLst>
                </a:gridCol>
                <a:gridCol w="1277625">
                  <a:extLst>
                    <a:ext uri="{9D8B030D-6E8A-4147-A177-3AD203B41FA5}">
                      <a16:colId xmlns:a16="http://schemas.microsoft.com/office/drawing/2014/main" val="3082732204"/>
                    </a:ext>
                  </a:extLst>
                </a:gridCol>
              </a:tblGrid>
              <a:tr h="124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Channel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%MTA Difference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48274"/>
                  </a:ext>
                </a:extLst>
              </a:tr>
              <a:tr h="124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401353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15,394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11,088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-28.0%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447564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14,856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26,846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80.7%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21223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47,983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43,068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-10.2%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231462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132.0%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482309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1,880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1,360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-27.7%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744832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9,180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6,910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-24.7%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369144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89,304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89,297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370409"/>
                  </a:ext>
                </a:extLst>
              </a:tr>
              <a:tr h="124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UK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145886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13,938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10,063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-27.8%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475207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10,667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20,296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90.3%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0902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37,008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32,740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-11.5%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461423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249.4%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397708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1,775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1,271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-28.4%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227949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6,839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5,319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-22.2%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491670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70,228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69,692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180343"/>
                  </a:ext>
                </a:extLst>
              </a:tr>
              <a:tr h="124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Euro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65598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1,456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1,025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-29.6%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239247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4,189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6,551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56.4%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08616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10,975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10,329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6378842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117.3%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149178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106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89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-15.7%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421585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2,341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1,591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-32.1%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670567"/>
                  </a:ext>
                </a:extLst>
              </a:tr>
              <a:tr h="1341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19,076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19,605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38619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0"/>
            <a:ext cx="7925910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Total Attribution Results – Desktop vs Mobile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495764" y="6236898"/>
            <a:ext cx="93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6297283" y="1689256"/>
          <a:ext cx="4805616" cy="4125825"/>
        </p:xfrm>
        <a:graphic>
          <a:graphicData uri="http://schemas.openxmlformats.org/drawingml/2006/table">
            <a:tbl>
              <a:tblPr/>
              <a:tblGrid>
                <a:gridCol w="1074368">
                  <a:extLst>
                    <a:ext uri="{9D8B030D-6E8A-4147-A177-3AD203B41FA5}">
                      <a16:colId xmlns:a16="http://schemas.microsoft.com/office/drawing/2014/main" val="447330989"/>
                    </a:ext>
                  </a:extLst>
                </a:gridCol>
                <a:gridCol w="1190515">
                  <a:extLst>
                    <a:ext uri="{9D8B030D-6E8A-4147-A177-3AD203B41FA5}">
                      <a16:colId xmlns:a16="http://schemas.microsoft.com/office/drawing/2014/main" val="600402242"/>
                    </a:ext>
                  </a:extLst>
                </a:gridCol>
                <a:gridCol w="1263108">
                  <a:extLst>
                    <a:ext uri="{9D8B030D-6E8A-4147-A177-3AD203B41FA5}">
                      <a16:colId xmlns:a16="http://schemas.microsoft.com/office/drawing/2014/main" val="2111712664"/>
                    </a:ext>
                  </a:extLst>
                </a:gridCol>
                <a:gridCol w="1277625">
                  <a:extLst>
                    <a:ext uri="{9D8B030D-6E8A-4147-A177-3AD203B41FA5}">
                      <a16:colId xmlns:a16="http://schemas.microsoft.com/office/drawing/2014/main" val="4050509900"/>
                    </a:ext>
                  </a:extLst>
                </a:gridCol>
              </a:tblGrid>
              <a:tr h="898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Channel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%MTA Difference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24084"/>
                  </a:ext>
                </a:extLst>
              </a:tr>
              <a:tr h="898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859156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5,573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5,076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546170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2,263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3,809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68.3%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54719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22,430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22,077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633861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140786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749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657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-12.3%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141438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3,257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2,645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-18.8%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350781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34,279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34,274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968625"/>
                  </a:ext>
                </a:extLst>
              </a:tr>
              <a:tr h="898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UK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277883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5,363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4,897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229480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1,192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2,276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91.0%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221151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19,912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19,590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034200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49.7%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304996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738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647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-12.3%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691394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2,806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2,342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-16.5%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527313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30,013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29,758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44386"/>
                  </a:ext>
                </a:extLst>
              </a:tr>
              <a:tr h="898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Euro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70345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210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178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-15.2%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51735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1,072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1,533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43.1%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424371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2,519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2,487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6661544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4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5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862408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10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-11.3%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950031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451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303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-32.8%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19663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4,266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4,516 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3" marR="5013" marT="50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81845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88521" y="1403063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Desktop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6297283" y="1403063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Mobile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540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7022275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MTA vs LTA by Channel and Sub-Channel UK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786333" y="1552748"/>
          <a:ext cx="5753817" cy="4476888"/>
        </p:xfrm>
        <a:graphic>
          <a:graphicData uri="http://schemas.openxmlformats.org/drawingml/2006/table">
            <a:tbl>
              <a:tblPr/>
              <a:tblGrid>
                <a:gridCol w="1718264">
                  <a:extLst>
                    <a:ext uri="{9D8B030D-6E8A-4147-A177-3AD203B41FA5}">
                      <a16:colId xmlns:a16="http://schemas.microsoft.com/office/drawing/2014/main" val="1119509563"/>
                    </a:ext>
                  </a:extLst>
                </a:gridCol>
                <a:gridCol w="1292637">
                  <a:extLst>
                    <a:ext uri="{9D8B030D-6E8A-4147-A177-3AD203B41FA5}">
                      <a16:colId xmlns:a16="http://schemas.microsoft.com/office/drawing/2014/main" val="968366703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2088322298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2485366728"/>
                    </a:ext>
                  </a:extLst>
                </a:gridCol>
              </a:tblGrid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Channel/Sub-Channel</a:t>
                      </a:r>
                    </a:p>
                  </a:txBody>
                  <a:tcPr marL="4548" marR="4548" marT="4548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MTA Difference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591274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Affiliate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19,301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14,958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-22.5%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072979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KWB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4,604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3,413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-25.9%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15860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 / Loyalty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2,812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1,979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-29.6%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650237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Sub-Network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394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290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-26.4%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38336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9,589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6,258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-34.7%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800987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Content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186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168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583659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Long-Tail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47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44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571140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1,669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2,806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68.1%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402007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Display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11,848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22,558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90.4%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33144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Awareness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272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781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186.7%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117789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Prospecting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6,575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13,213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101.0%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272723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Retargeting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2,596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3,927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51.3%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840190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Targeting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19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73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281.4%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788189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2,386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4,564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91.3%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35921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PPC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57,137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52,492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-8.1%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337280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Generic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12,589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12,654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07072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43,178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38,636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-10.5%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94745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Competitor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23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24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831631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1,346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1,178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-12.5%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396145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Social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5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10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99.6%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28109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Email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2,477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1,895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-23.5%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106264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Adhoc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1,978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1,516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-23.3%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095087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Triggered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499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379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-24.0%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859174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Natural Search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9,643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7,660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-20.6%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15425"/>
                  </a:ext>
                </a:extLst>
              </a:tr>
              <a:tr h="93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4548" marR="4548" marT="4548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100,410 </a:t>
                      </a:r>
                    </a:p>
                  </a:txBody>
                  <a:tcPr marL="4548" marR="4548" marT="454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99,573 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-0.8%</a:t>
                      </a:r>
                    </a:p>
                  </a:txBody>
                  <a:tcPr marL="4548" marR="4548" marT="4548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90812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95764" y="6236898"/>
            <a:ext cx="93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76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786332" y="1552746"/>
          <a:ext cx="5753818" cy="3806682"/>
        </p:xfrm>
        <a:graphic>
          <a:graphicData uri="http://schemas.openxmlformats.org/drawingml/2006/table">
            <a:tbl>
              <a:tblPr/>
              <a:tblGrid>
                <a:gridCol w="1718264">
                  <a:extLst>
                    <a:ext uri="{9D8B030D-6E8A-4147-A177-3AD203B41FA5}">
                      <a16:colId xmlns:a16="http://schemas.microsoft.com/office/drawing/2014/main" val="3094218136"/>
                    </a:ext>
                  </a:extLst>
                </a:gridCol>
                <a:gridCol w="1292638">
                  <a:extLst>
                    <a:ext uri="{9D8B030D-6E8A-4147-A177-3AD203B41FA5}">
                      <a16:colId xmlns:a16="http://schemas.microsoft.com/office/drawing/2014/main" val="1955770790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2666767903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3630559319"/>
                    </a:ext>
                  </a:extLst>
                </a:gridCol>
              </a:tblGrid>
              <a:tr h="1004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Channel/Sub-Channel</a:t>
                      </a:r>
                    </a:p>
                  </a:txBody>
                  <a:tcPr marL="5391" marR="5391" marT="5391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MTA Difference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756359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Affiliate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811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472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-41.9%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542024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KWB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-24.8%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326711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 / Loyalty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0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838671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8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5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-42.3%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752608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802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465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-41.9%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758130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Display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1,722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2,873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66.8%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257866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Awareness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22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833.5%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447238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Prospecting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335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671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100.3%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56778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Retargeting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1,322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1,948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47.3%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853430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62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232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271.6%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428327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PPC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4,825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4,962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2.8%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008579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Generic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1,164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1,215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017169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2,948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3,064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43336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Competitor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20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25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23.6%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617501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692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657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662093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Social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11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20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84.9%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132366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Email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83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69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-16.8%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048282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Adhoc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55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48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-12.2%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6627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Triggered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28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20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-25.9%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493700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Natural Search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1,414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879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-37.8%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841938"/>
                  </a:ext>
                </a:extLst>
              </a:tr>
              <a:tr h="102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391" marR="5391" marT="5391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8,866 </a:t>
                      </a:r>
                    </a:p>
                  </a:txBody>
                  <a:tcPr marL="5391" marR="5391" marT="5391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9,274 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4.6%</a:t>
                      </a:r>
                    </a:p>
                  </a:txBody>
                  <a:tcPr marL="5391" marR="5391" marT="5391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601140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8447042" cy="663375"/>
          </a:xfrm>
        </p:spPr>
        <p:txBody>
          <a:bodyPr>
            <a:noAutofit/>
          </a:bodyPr>
          <a:lstStyle/>
          <a:p>
            <a:r>
              <a:rPr lang="en-GB" dirty="0" smtClean="0"/>
              <a:t>MTA vs LTA by Channel and Sub-Channel France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5764" y="6236898"/>
            <a:ext cx="93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67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786333" y="1552746"/>
          <a:ext cx="5753817" cy="3136644"/>
        </p:xfrm>
        <a:graphic>
          <a:graphicData uri="http://schemas.openxmlformats.org/drawingml/2006/table">
            <a:tbl>
              <a:tblPr/>
              <a:tblGrid>
                <a:gridCol w="1718263">
                  <a:extLst>
                    <a:ext uri="{9D8B030D-6E8A-4147-A177-3AD203B41FA5}">
                      <a16:colId xmlns:a16="http://schemas.microsoft.com/office/drawing/2014/main" val="3252066270"/>
                    </a:ext>
                  </a:extLst>
                </a:gridCol>
                <a:gridCol w="1292638">
                  <a:extLst>
                    <a:ext uri="{9D8B030D-6E8A-4147-A177-3AD203B41FA5}">
                      <a16:colId xmlns:a16="http://schemas.microsoft.com/office/drawing/2014/main" val="452196691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2843956109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2555417325"/>
                    </a:ext>
                  </a:extLst>
                </a:gridCol>
              </a:tblGrid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Channel/Sub-Channel</a:t>
                      </a:r>
                    </a:p>
                  </a:txBody>
                  <a:tcPr marL="6618" marR="6618" marT="6618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MTA Difference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897706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Affiliate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199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162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-18.9%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77340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KWB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0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789720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4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6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349310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196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155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-20.7%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060637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Display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1,278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1,796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40.5%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334204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Awareness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6373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Prospecting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158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318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100.6%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74941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Retargeting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1,118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1,477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307398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PPC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2,718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2,515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-7.5%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494839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Generic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910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881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-3.1%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60455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1,698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1,546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159385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Competitor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16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14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950437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95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74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-22.3%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652115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Email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79.4%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366889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Triggered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79.4%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46872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Natural Search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362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269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-25.7%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537658"/>
                  </a:ext>
                </a:extLst>
              </a:tr>
              <a:tr h="1742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618" marR="6618" marT="6618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4,559 </a:t>
                      </a:r>
                    </a:p>
                  </a:txBody>
                  <a:tcPr marL="6618" marR="6618" marT="6618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4,744 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4.1%</a:t>
                      </a:r>
                    </a:p>
                  </a:txBody>
                  <a:tcPr marL="6618" marR="6618" marT="6618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64035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8610945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MTA vs LTA by Channel and Sub-Channel Germany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5764" y="6236898"/>
            <a:ext cx="93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9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786334" y="1552762"/>
          <a:ext cx="5753816" cy="3639153"/>
        </p:xfrm>
        <a:graphic>
          <a:graphicData uri="http://schemas.openxmlformats.org/drawingml/2006/table">
            <a:tbl>
              <a:tblPr/>
              <a:tblGrid>
                <a:gridCol w="1718262">
                  <a:extLst>
                    <a:ext uri="{9D8B030D-6E8A-4147-A177-3AD203B41FA5}">
                      <a16:colId xmlns:a16="http://schemas.microsoft.com/office/drawing/2014/main" val="1906191140"/>
                    </a:ext>
                  </a:extLst>
                </a:gridCol>
                <a:gridCol w="1292638">
                  <a:extLst>
                    <a:ext uri="{9D8B030D-6E8A-4147-A177-3AD203B41FA5}">
                      <a16:colId xmlns:a16="http://schemas.microsoft.com/office/drawing/2014/main" val="302682362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2062991303"/>
                    </a:ext>
                  </a:extLst>
                </a:gridCol>
                <a:gridCol w="1371458">
                  <a:extLst>
                    <a:ext uri="{9D8B030D-6E8A-4147-A177-3AD203B41FA5}">
                      <a16:colId xmlns:a16="http://schemas.microsoft.com/office/drawing/2014/main" val="1937666628"/>
                    </a:ext>
                  </a:extLst>
                </a:gridCol>
              </a:tblGrid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Channel/Sub-Channel</a:t>
                      </a:r>
                    </a:p>
                  </a:txBody>
                  <a:tcPr marL="5653" marR="5653" marT="5653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MTA Difference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074169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Affiliate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556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484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-12.9%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16981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KWB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4654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 / Loyalty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0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744539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7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5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-31.7%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831074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548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478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-12.8%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46975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Display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1,121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1,656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47.8%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58496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Awareness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58214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Prospecting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202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416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106.5%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502555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Retargeting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917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1,231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34.2%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89823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6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166.0%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037984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PPC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3,059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2,808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-8.2%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068312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Generic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713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721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09596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2,093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1,816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-13.2%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871349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Competitor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12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17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42.0%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27723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241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254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63003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Social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60.5%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032810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Email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28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22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-18.6%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021245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Triggered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28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22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-18.6%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528033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Natural Search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577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468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-19.0%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130855"/>
                  </a:ext>
                </a:extLst>
              </a:tr>
              <a:tr h="15486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653" marR="5653" marT="5653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5,341 </a:t>
                      </a:r>
                    </a:p>
                  </a:txBody>
                  <a:tcPr marL="5653" marR="5653" marT="5653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5,441 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1.9%</a:t>
                      </a:r>
                    </a:p>
                  </a:txBody>
                  <a:tcPr marL="5653" marR="5653" marT="5653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917490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8386658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MTA vs LTA by Channel and Sub-Channel Netherlands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5764" y="6236898"/>
            <a:ext cx="93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9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82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08" y="893"/>
            <a:ext cx="8136492" cy="663375"/>
          </a:xfrm>
        </p:spPr>
        <p:txBody>
          <a:bodyPr>
            <a:noAutofit/>
          </a:bodyPr>
          <a:lstStyle/>
          <a:p>
            <a:r>
              <a:rPr lang="en-GB" dirty="0" smtClean="0"/>
              <a:t>MTA vs LTA by Channel and Sub-Channel Belgium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786333" y="1551498"/>
          <a:ext cx="5753818" cy="3471640"/>
        </p:xfrm>
        <a:graphic>
          <a:graphicData uri="http://schemas.openxmlformats.org/drawingml/2006/table">
            <a:tbl>
              <a:tblPr/>
              <a:tblGrid>
                <a:gridCol w="1718264">
                  <a:extLst>
                    <a:ext uri="{9D8B030D-6E8A-4147-A177-3AD203B41FA5}">
                      <a16:colId xmlns:a16="http://schemas.microsoft.com/office/drawing/2014/main" val="3656103038"/>
                    </a:ext>
                  </a:extLst>
                </a:gridCol>
                <a:gridCol w="1292640">
                  <a:extLst>
                    <a:ext uri="{9D8B030D-6E8A-4147-A177-3AD203B41FA5}">
                      <a16:colId xmlns:a16="http://schemas.microsoft.com/office/drawing/2014/main" val="4034063618"/>
                    </a:ext>
                  </a:extLst>
                </a:gridCol>
                <a:gridCol w="1371457">
                  <a:extLst>
                    <a:ext uri="{9D8B030D-6E8A-4147-A177-3AD203B41FA5}">
                      <a16:colId xmlns:a16="http://schemas.microsoft.com/office/drawing/2014/main" val="1592306916"/>
                    </a:ext>
                  </a:extLst>
                </a:gridCol>
                <a:gridCol w="1371457">
                  <a:extLst>
                    <a:ext uri="{9D8B030D-6E8A-4147-A177-3AD203B41FA5}">
                      <a16:colId xmlns:a16="http://schemas.microsoft.com/office/drawing/2014/main" val="4179937239"/>
                    </a:ext>
                  </a:extLst>
                </a:gridCol>
              </a:tblGrid>
              <a:tr h="99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Channel/Sub-Channel</a:t>
                      </a:r>
                    </a:p>
                  </a:txBody>
                  <a:tcPr marL="5942" marR="5942" marT="5942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MTA Difference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350317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Affiliate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100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86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-13.6%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12163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KWB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4864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7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06033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92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84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173598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Display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1,135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1,762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55.2%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895084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Awareness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122885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Prospecting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263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634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645520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Retargeting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872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1,127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29.2%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92588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PPC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2,888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2,529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-12.5%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590670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Generic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671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647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225021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1,988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1,642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-17.4%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282538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Competitor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12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14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594869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217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226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427226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Social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4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226.4%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271956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Email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4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4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7.6%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894419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Triggered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30500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562395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Natural Search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439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277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-36.8%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530843"/>
                  </a:ext>
                </a:extLst>
              </a:tr>
              <a:tr h="1065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5942" marR="5942" marT="5942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4,567 </a:t>
                      </a:r>
                    </a:p>
                  </a:txBody>
                  <a:tcPr marL="5942" marR="5942" marT="5942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4,661 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2.1%</a:t>
                      </a:r>
                    </a:p>
                  </a:txBody>
                  <a:tcPr marL="5942" marR="5942" marT="5942" marB="0" anchor="b">
                    <a:lnL>
                      <a:noFill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67399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95764" y="6236898"/>
            <a:ext cx="93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9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7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Results Deep Dive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8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105503" y="664281"/>
          <a:ext cx="5633049" cy="6149844"/>
        </p:xfrm>
        <a:graphic>
          <a:graphicData uri="http://schemas.openxmlformats.org/drawingml/2006/table">
            <a:tbl>
              <a:tblPr/>
              <a:tblGrid>
                <a:gridCol w="1494131">
                  <a:extLst>
                    <a:ext uri="{9D8B030D-6E8A-4147-A177-3AD203B41FA5}">
                      <a16:colId xmlns:a16="http://schemas.microsoft.com/office/drawing/2014/main" val="1747737253"/>
                    </a:ext>
                  </a:extLst>
                </a:gridCol>
                <a:gridCol w="1395718">
                  <a:extLst>
                    <a:ext uri="{9D8B030D-6E8A-4147-A177-3AD203B41FA5}">
                      <a16:colId xmlns:a16="http://schemas.microsoft.com/office/drawing/2014/main" val="3760118452"/>
                    </a:ext>
                  </a:extLst>
                </a:gridCol>
                <a:gridCol w="1552755">
                  <a:extLst>
                    <a:ext uri="{9D8B030D-6E8A-4147-A177-3AD203B41FA5}">
                      <a16:colId xmlns:a16="http://schemas.microsoft.com/office/drawing/2014/main" val="4193076531"/>
                    </a:ext>
                  </a:extLst>
                </a:gridCol>
                <a:gridCol w="1190445">
                  <a:extLst>
                    <a:ext uri="{9D8B030D-6E8A-4147-A177-3AD203B41FA5}">
                      <a16:colId xmlns:a16="http://schemas.microsoft.com/office/drawing/2014/main" val="75575971"/>
                    </a:ext>
                  </a:extLst>
                </a:gridCol>
              </a:tblGrid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Route/Channel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 Conversions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%MTA Difference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738334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irish sea-ferry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11,044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11,027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67213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1,910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1,499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-21.5%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599635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1,049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2,160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105.9%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888882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97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75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-23.2%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762278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1,129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860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-23.8%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322250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6,858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6,433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741837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-  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581774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sea-ferry-1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5,460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5,383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869127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1,242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947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-23.8%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971327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632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1,346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112.8%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279190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114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83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-27.6%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790172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623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468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-24.9%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255865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2,849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2,540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-10.8%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09804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-  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717546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sea-ferry-2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3,932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3,862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28820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1,092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837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-23.3%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865406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410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956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132.9%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116782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148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109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-25.9%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427677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427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316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-26.1%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613831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1,855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1,644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-11.4%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568733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-  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981213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sea-ferry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69,660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69,002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-0.9%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624003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12,092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9,239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-23.6%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05062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8,305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15,548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87.2%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176478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2,000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1,544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-22.8%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888759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6,516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5,333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-18.2%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746187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40,742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37,332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-8.4%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72630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4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5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35.9%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773835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minicruise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9,408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9,393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534394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Affiliate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2,938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2,409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-18.0%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289296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809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1,907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135.7%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619385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116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83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-28.8%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108790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 Search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948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683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-27.9%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682034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4,597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4,309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175522"/>
                  </a:ext>
                </a:extLst>
              </a:tr>
              <a:tr h="121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-  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3 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3189" marR="3189" marT="318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8544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9180119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LTA vs MTA by Route and Channel UK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1080" y="5952226"/>
            <a:ext cx="2553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1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53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786335" y="1551498"/>
          <a:ext cx="6478434" cy="4343404"/>
        </p:xfrm>
        <a:graphic>
          <a:graphicData uri="http://schemas.openxmlformats.org/drawingml/2006/table">
            <a:tbl>
              <a:tblPr/>
              <a:tblGrid>
                <a:gridCol w="2656933">
                  <a:extLst>
                    <a:ext uri="{9D8B030D-6E8A-4147-A177-3AD203B41FA5}">
                      <a16:colId xmlns:a16="http://schemas.microsoft.com/office/drawing/2014/main" val="39255946"/>
                    </a:ext>
                  </a:extLst>
                </a:gridCol>
                <a:gridCol w="964043">
                  <a:extLst>
                    <a:ext uri="{9D8B030D-6E8A-4147-A177-3AD203B41FA5}">
                      <a16:colId xmlns:a16="http://schemas.microsoft.com/office/drawing/2014/main" val="794697235"/>
                    </a:ext>
                  </a:extLst>
                </a:gridCol>
                <a:gridCol w="1389406">
                  <a:extLst>
                    <a:ext uri="{9D8B030D-6E8A-4147-A177-3AD203B41FA5}">
                      <a16:colId xmlns:a16="http://schemas.microsoft.com/office/drawing/2014/main" val="2445818443"/>
                    </a:ext>
                  </a:extLst>
                </a:gridCol>
                <a:gridCol w="1468052">
                  <a:extLst>
                    <a:ext uri="{9D8B030D-6E8A-4147-A177-3AD203B41FA5}">
                      <a16:colId xmlns:a16="http://schemas.microsoft.com/office/drawing/2014/main" val="887250452"/>
                    </a:ext>
                  </a:extLst>
                </a:gridCol>
              </a:tblGrid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Campaign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%MTA Difference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15719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DISP_UK_Q2_P&amp;O Short Sea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5,032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9,014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79.1%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897676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DISP_UK_Q2_P&amp;O North Sea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1,895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3,682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94.3%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483944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DISP_FR_Q2_P&amp;O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1,657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2,622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58.2%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752477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Visit Passchendaele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1,297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2,408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85.6%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17641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DISP_UK_Q3_P&amp;O North Sea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728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1,966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169.9%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518930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DISP_DE_Q2_P&amp;O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1,246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1,759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41.2%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4609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DISP_NL_Q2_P&amp;O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1,121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1,656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47.8%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307930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DISP_BN_Q2_P&amp;O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1,009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1,432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41.9%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831845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DISP_UK_Q2_P&amp;O Irish Sea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678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1,363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101.1%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117100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Visit Holland - AugOct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660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1,205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82.5%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11126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Tourism Ireland - Sep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584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1,091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86.7%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671711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Half Term Minicruise - Sep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325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554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70.4%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30214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DISP_BF_Q2_P&amp;O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330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161.7%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266729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NS/SS - NOV 2017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256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325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300972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da-DK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Q4 - Visit Bruges - 2017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103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271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162.4%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46701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DISP_P&amp;O_France Summer Education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62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232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271.6%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444379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Free Fuel - UK - October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136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232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71.0%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2796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Awareness - SS - 2017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31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116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271.0%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053453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DISP_UK_Q4_P&amp;O_Mobile Test_2017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34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113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234.9%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69501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Awareness - NS - 2017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23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85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271.8%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381034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Ferries_Partnership Adserving_201718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25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64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152.4%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691633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IS - NOV 2017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35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52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48.8%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030096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Visit Britain Oct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32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37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014764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DISP - Awareness - IS - 2017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6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20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230.4%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500609"/>
                  </a:ext>
                </a:extLst>
              </a:tr>
              <a:tr h="167054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- Free Fuel - EU - Q4 2017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10 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745.5%</a:t>
                      </a:r>
                    </a:p>
                  </a:txBody>
                  <a:tcPr marL="4475" marR="4475" marT="44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56093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10559916" cy="663375"/>
          </a:xfrm>
        </p:spPr>
        <p:txBody>
          <a:bodyPr>
            <a:noAutofit/>
          </a:bodyPr>
          <a:lstStyle/>
          <a:p>
            <a:r>
              <a:rPr lang="en-GB" dirty="0" smtClean="0"/>
              <a:t>Display– TOP 20 Placements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13264" y="798789"/>
            <a:ext cx="11398728" cy="1416915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Top </a:t>
            </a:r>
            <a:r>
              <a:rPr lang="en-GB" sz="2000" dirty="0" smtClean="0">
                <a:latin typeface="Calibri" panose="020F0502020204030204" pitchFamily="34" charset="0"/>
              </a:rPr>
              <a:t>20 placements show </a:t>
            </a:r>
            <a:r>
              <a:rPr lang="en-GB" sz="2000" dirty="0">
                <a:latin typeface="Calibri" panose="020F0502020204030204" pitchFamily="34" charset="0"/>
              </a:rPr>
              <a:t>large differences between LTA and MTA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95764" y="6236898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8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786333" y="1551502"/>
          <a:ext cx="6478436" cy="3634155"/>
        </p:xfrm>
        <a:graphic>
          <a:graphicData uri="http://schemas.openxmlformats.org/drawingml/2006/table">
            <a:tbl>
              <a:tblPr/>
              <a:tblGrid>
                <a:gridCol w="2732721">
                  <a:extLst>
                    <a:ext uri="{9D8B030D-6E8A-4147-A177-3AD203B41FA5}">
                      <a16:colId xmlns:a16="http://schemas.microsoft.com/office/drawing/2014/main" val="970852393"/>
                    </a:ext>
                  </a:extLst>
                </a:gridCol>
                <a:gridCol w="1130782">
                  <a:extLst>
                    <a:ext uri="{9D8B030D-6E8A-4147-A177-3AD203B41FA5}">
                      <a16:colId xmlns:a16="http://schemas.microsoft.com/office/drawing/2014/main" val="27593980"/>
                    </a:ext>
                  </a:extLst>
                </a:gridCol>
                <a:gridCol w="1484151">
                  <a:extLst>
                    <a:ext uri="{9D8B030D-6E8A-4147-A177-3AD203B41FA5}">
                      <a16:colId xmlns:a16="http://schemas.microsoft.com/office/drawing/2014/main" val="2027089824"/>
                    </a:ext>
                  </a:extLst>
                </a:gridCol>
                <a:gridCol w="1130782">
                  <a:extLst>
                    <a:ext uri="{9D8B030D-6E8A-4147-A177-3AD203B41FA5}">
                      <a16:colId xmlns:a16="http://schemas.microsoft.com/office/drawing/2014/main" val="1537381062"/>
                    </a:ext>
                  </a:extLst>
                </a:gridCol>
              </a:tblGrid>
              <a:tr h="1611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Paid Search Keyword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%MTA Difference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984312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 to france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950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882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-7.2%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596121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dover to calais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773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837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627210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ferries to france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421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415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358267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dover calais ferry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323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333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698674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dover to calais ferry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353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329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815503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+ferry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320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319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46830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+calais +dover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246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245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154765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calais dover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253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243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-3.9%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519235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 dover to calais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223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223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36007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 dover calais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214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202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402701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 to calais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179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180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715878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 from dover to calais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169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175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452158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dover calais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178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171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-3.9%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137738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calais to dover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175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169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-3.4%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694366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cairnryan to larne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188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163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-13.3%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006032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144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146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275997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 calais dover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134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133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15963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+calais +ferry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119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127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13599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calais dover ferry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124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117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79487"/>
                  </a:ext>
                </a:extLst>
              </a:tr>
              <a:tr h="108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sea ferries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139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113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-19.0%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0992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9288464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Paid Search – Generic Level TOP 20 Keywords UK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13264" y="798789"/>
            <a:ext cx="11398728" cy="1416915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Top 20 </a:t>
            </a:r>
            <a:r>
              <a:rPr lang="en-GB" sz="2000" dirty="0" smtClean="0">
                <a:latin typeface="Calibri" panose="020F0502020204030204" pitchFamily="34" charset="0"/>
              </a:rPr>
              <a:t>generic </a:t>
            </a:r>
            <a:r>
              <a:rPr lang="en-GB" sz="2000" dirty="0">
                <a:latin typeface="Calibri" panose="020F0502020204030204" pitchFamily="34" charset="0"/>
              </a:rPr>
              <a:t>keywords show large differences between LTA and MTA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95764" y="6236898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42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10559916" cy="663375"/>
          </a:xfrm>
        </p:spPr>
        <p:txBody>
          <a:bodyPr>
            <a:noAutofit/>
          </a:bodyPr>
          <a:lstStyle/>
          <a:p>
            <a:r>
              <a:rPr lang="en-GB" dirty="0"/>
              <a:t>Paid Search – Brand Level TOP 20 Keywords UK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13264" y="798789"/>
            <a:ext cx="11398728" cy="1416915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Top 20 </a:t>
            </a:r>
            <a:r>
              <a:rPr lang="en-GB" sz="2000" dirty="0" smtClean="0">
                <a:latin typeface="Calibri" panose="020F0502020204030204" pitchFamily="34" charset="0"/>
              </a:rPr>
              <a:t>branded keywords </a:t>
            </a:r>
            <a:r>
              <a:rPr lang="en-GB" sz="2000" dirty="0">
                <a:latin typeface="Calibri" panose="020F0502020204030204" pitchFamily="34" charset="0"/>
              </a:rPr>
              <a:t>show large differences between LTA and MTA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786333" y="1551502"/>
          <a:ext cx="6478436" cy="3806836"/>
        </p:xfrm>
        <a:graphic>
          <a:graphicData uri="http://schemas.openxmlformats.org/drawingml/2006/table">
            <a:tbl>
              <a:tblPr/>
              <a:tblGrid>
                <a:gridCol w="1979201">
                  <a:extLst>
                    <a:ext uri="{9D8B030D-6E8A-4147-A177-3AD203B41FA5}">
                      <a16:colId xmlns:a16="http://schemas.microsoft.com/office/drawing/2014/main" val="1759701986"/>
                    </a:ext>
                  </a:extLst>
                </a:gridCol>
                <a:gridCol w="1415359">
                  <a:extLst>
                    <a:ext uri="{9D8B030D-6E8A-4147-A177-3AD203B41FA5}">
                      <a16:colId xmlns:a16="http://schemas.microsoft.com/office/drawing/2014/main" val="3836092638"/>
                    </a:ext>
                  </a:extLst>
                </a:gridCol>
                <a:gridCol w="1503581">
                  <a:extLst>
                    <a:ext uri="{9D8B030D-6E8A-4147-A177-3AD203B41FA5}">
                      <a16:colId xmlns:a16="http://schemas.microsoft.com/office/drawing/2014/main" val="2786910925"/>
                    </a:ext>
                  </a:extLst>
                </a:gridCol>
                <a:gridCol w="1580295">
                  <a:extLst>
                    <a:ext uri="{9D8B030D-6E8A-4147-A177-3AD203B41FA5}">
                      <a16:colId xmlns:a16="http://schemas.microsoft.com/office/drawing/2014/main" val="188308763"/>
                    </a:ext>
                  </a:extLst>
                </a:gridCol>
              </a:tblGrid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Paid Search </a:t>
                      </a:r>
                      <a:r>
                        <a:rPr 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Keyword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MTA Difference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777560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8,051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7,304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-9.3%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519503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and o 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5,476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4,972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-9.2%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737387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4,058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3,536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-12.9%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871886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ferry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2,880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2,504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-13.0%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036814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and o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2,240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2,120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925482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&amp; o 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2,387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1,995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-16.4%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008697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&amp; o ferry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1,706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1,613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-5.5%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94885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ferry p&amp;o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1,066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1,050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784861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 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1,057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914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-13.6%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8771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1,033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890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-13.9%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802596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o 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882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794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-10.0%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76179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and o ferry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708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686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-3.1%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530090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 ferry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550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574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685453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593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513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-13.5%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529344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pando 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545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465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-14.7%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88425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ferries dover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511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415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-18.8%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260165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pando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350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322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90274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p&amp;0 ferries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294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251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-14.5%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13297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 ferries dover to calais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246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205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-16.8%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25405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pando ferry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216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198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-8.3%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739254"/>
                  </a:ext>
                </a:extLst>
              </a:tr>
              <a:tr h="745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p&amp;o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mini cruise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163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152 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-6.7%</a:t>
                      </a:r>
                    </a:p>
                  </a:txBody>
                  <a:tcPr marL="5398" marR="5398" marT="5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4691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95764" y="6236898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34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10559916" cy="663375"/>
          </a:xfrm>
        </p:spPr>
        <p:txBody>
          <a:bodyPr>
            <a:noAutofit/>
          </a:bodyPr>
          <a:lstStyle/>
          <a:p>
            <a:r>
              <a:rPr lang="en-GB" dirty="0" smtClean="0"/>
              <a:t>Affiliate– TOP 20 Sites UK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13264" y="798789"/>
            <a:ext cx="11398728" cy="374403"/>
          </a:xfrm>
        </p:spPr>
        <p:txBody>
          <a:bodyPr>
            <a:normAutofit fontScale="85000" lnSpcReduction="20000"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Top </a:t>
            </a:r>
            <a:r>
              <a:rPr lang="en-GB" sz="2000" dirty="0" smtClean="0">
                <a:latin typeface="Calibri" panose="020F0502020204030204" pitchFamily="34" charset="0"/>
              </a:rPr>
              <a:t>20 sites show </a:t>
            </a:r>
            <a:r>
              <a:rPr lang="en-GB" sz="2000" dirty="0">
                <a:latin typeface="Calibri" panose="020F0502020204030204" pitchFamily="34" charset="0"/>
              </a:rPr>
              <a:t>large differences between LTA and MTA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95764" y="6236898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Note: Affiliate, Display, PPC, Social numbers cover 14th Jul 2017 – 5th Dec 2017; Email, Natural Search, 13th Oct 2017 – 5th Dec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2017</a:t>
            </a:r>
            <a:endParaRPr lang="en-US" sz="1000" dirty="0">
              <a:latin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01115"/>
              </p:ext>
            </p:extLst>
          </p:nvPr>
        </p:nvGraphicFramePr>
        <p:xfrm>
          <a:off x="1417909" y="1348986"/>
          <a:ext cx="9353007" cy="4420255"/>
        </p:xfrm>
        <a:graphic>
          <a:graphicData uri="http://schemas.openxmlformats.org/drawingml/2006/table">
            <a:tbl>
              <a:tblPr/>
              <a:tblGrid>
                <a:gridCol w="2384313">
                  <a:extLst>
                    <a:ext uri="{9D8B030D-6E8A-4147-A177-3AD203B41FA5}">
                      <a16:colId xmlns:a16="http://schemas.microsoft.com/office/drawing/2014/main" val="506113389"/>
                    </a:ext>
                  </a:extLst>
                </a:gridCol>
                <a:gridCol w="1563460">
                  <a:extLst>
                    <a:ext uri="{9D8B030D-6E8A-4147-A177-3AD203B41FA5}">
                      <a16:colId xmlns:a16="http://schemas.microsoft.com/office/drawing/2014/main" val="3776696268"/>
                    </a:ext>
                  </a:extLst>
                </a:gridCol>
                <a:gridCol w="1985363">
                  <a:extLst>
                    <a:ext uri="{9D8B030D-6E8A-4147-A177-3AD203B41FA5}">
                      <a16:colId xmlns:a16="http://schemas.microsoft.com/office/drawing/2014/main" val="2329342412"/>
                    </a:ext>
                  </a:extLst>
                </a:gridCol>
                <a:gridCol w="2237836">
                  <a:extLst>
                    <a:ext uri="{9D8B030D-6E8A-4147-A177-3AD203B41FA5}">
                      <a16:colId xmlns:a16="http://schemas.microsoft.com/office/drawing/2014/main" val="3043029084"/>
                    </a:ext>
                  </a:extLst>
                </a:gridCol>
                <a:gridCol w="1182035">
                  <a:extLst>
                    <a:ext uri="{9D8B030D-6E8A-4147-A177-3AD203B41FA5}">
                      <a16:colId xmlns:a16="http://schemas.microsoft.com/office/drawing/2014/main" val="1084993582"/>
                    </a:ext>
                  </a:extLst>
                </a:gridCol>
              </a:tblGrid>
              <a:tr h="15217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LTA Conversions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MTA Conversions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%MTA Difference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2247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UK Web Media LTD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KWB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2,605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1,927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-26.0%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120150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RetailMeNot UK Ltd.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2,936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1,878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-36.0%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657391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Media Planet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KWB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2,000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1,489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-25.6%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913991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Quidco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2,032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1,414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-30.4%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6103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TopCashback Ltd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 / Loyalty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1,924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1,352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-29.7%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3427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Webgears GmbH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1,726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1,117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-35.3%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861861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Invitation Digital Ltd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954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610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-36.1%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484907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Groupon International Limited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775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506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-34.7%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840982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Global Voucher Group Ltd,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806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505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-37.4%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95744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Reward Gateway (UK) Ltd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 / Loyalty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404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305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-24.5%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760948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Support Group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 / Loyalty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277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181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-34.8%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13573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digidip GmbH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Sub-Network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188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165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-12.6%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4901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Skimbit, Ltd.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Sub-Network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205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125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-39.1%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803591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Holidaypirates Ltd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Content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110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103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-6.4%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629714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bor350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120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95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-20.8%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042020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MSH LTD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136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85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-37.4%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237263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PPC Insight Ltd (Ferry To)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100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77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-22.6%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66418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Savoo.co.uk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Voucher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125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74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-40.5%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033732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ICLP.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 / Loyalty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98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73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-25.7%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83835"/>
                  </a:ext>
                </a:extLst>
              </a:tr>
              <a:tr h="213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FutureproofDigital Media Ltd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104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70 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-32.8%</a:t>
                      </a:r>
                    </a:p>
                  </a:txBody>
                  <a:tcPr marL="5415" marR="5415" marT="541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116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63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‘Optimum’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71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7116692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Optimum Dashboard</a:t>
            </a:r>
            <a:endParaRPr lang="en-US" dirty="0"/>
          </a:p>
        </p:txBody>
      </p:sp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2" y="971550"/>
            <a:ext cx="6667500" cy="58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695450"/>
            <a:ext cx="5124450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7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6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893"/>
            <a:ext cx="7116692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Next Steps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6977" y="1222884"/>
            <a:ext cx="10989577" cy="4988655"/>
          </a:xfrm>
        </p:spPr>
        <p:txBody>
          <a:bodyPr>
            <a:normAutofit/>
          </a:bodyPr>
          <a:lstStyle/>
          <a:p>
            <a:pPr marL="228600" indent="-228600" defTabSz="9144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 the ‘Optimum’ Dashboard and make it fully operational for Jan 2018 integration </a:t>
            </a:r>
          </a:p>
          <a:p>
            <a:pPr marL="228600" indent="-228600" defTabSz="9144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with the relevant </a:t>
            </a:r>
            <a:r>
              <a:rPr lang="en-GB" sz="2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Starcom</a:t>
            </a: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channel teams to integrate the MTA optimisation recommendations into their digital media planning</a:t>
            </a:r>
          </a:p>
          <a:p>
            <a:pPr marL="228600" indent="-228600" defTabSz="9144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Mid-Late Jan 2018 complete the digital results test: MTA recommendations vs normal planning</a:t>
            </a:r>
            <a:endParaRPr lang="en-GB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defTabSz="9144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Brief results presentation on the test and plan full roll out for Feb 2018</a:t>
            </a:r>
          </a:p>
          <a:p>
            <a:pPr marL="228600" indent="-228600" defTabSz="9144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up the viewability display test to compare with MTA display results </a:t>
            </a:r>
            <a:endParaRPr lang="en-GB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defTabSz="9144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 work on search auto integration Q2 2018</a:t>
            </a:r>
            <a:endParaRPr lang="en-GB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61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10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Appendix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13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978" y="1222885"/>
            <a:ext cx="10962190" cy="4693821"/>
          </a:xfrm>
        </p:spPr>
        <p:txBody>
          <a:bodyPr>
            <a:normAutofit/>
          </a:bodyPr>
          <a:lstStyle/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September 2017 Apple has rolled out iOS 11 and </a:t>
            </a:r>
            <a:r>
              <a:rPr lang="en-GB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macOS</a:t>
            </a: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High Sierra which both have a new cookie anti-tracking feature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summary, if a user does not convert within 24 hrs after visiting a website their cookie will be deleted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apply for third party tracking platforms such as DoubleClick, however first party tracking will not delete cookies for up to 30 days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Despite opposition form the American Association of Advertising Agencies Apple has said they have no plans to drop ITP from Safari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way around the deletion is the new GA cookie, which can be considered first party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7753" y="893"/>
            <a:ext cx="9444507" cy="663375"/>
          </a:xfrm>
        </p:spPr>
        <p:txBody>
          <a:bodyPr>
            <a:normAutofit/>
          </a:bodyPr>
          <a:lstStyle/>
          <a:p>
            <a:r>
              <a:rPr lang="en-GB" dirty="0" smtClean="0"/>
              <a:t>Views on Apple’s Intelligent Tracking Prevention (ITP)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573100" y="6712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8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978" y="867882"/>
            <a:ext cx="10962190" cy="5081097"/>
          </a:xfrm>
        </p:spPr>
        <p:txBody>
          <a:bodyPr>
            <a:normAutofit fontScale="85000" lnSpcReduction="20000"/>
          </a:bodyPr>
          <a:lstStyle/>
          <a:p>
            <a:pPr marL="228600" indent="-2286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iOS users make up 52% percent of mobile users and 39% of total users (desktop, mobile and tablet) </a:t>
            </a:r>
          </a:p>
          <a:p>
            <a:pPr lvl="1"/>
            <a:endParaRPr lang="en-GB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28600" indent="-2286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in terms of transactions, 37% are mobile and 23% are at a total level (including desktop)</a:t>
            </a:r>
          </a:p>
          <a:p>
            <a:pPr marL="228600" indent="-2286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if 59% of those transactions take place within 24 hrs we estimate* that 9% of conversions will be impacted by ITP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7753" y="893"/>
            <a:ext cx="9444507" cy="663375"/>
          </a:xfrm>
        </p:spPr>
        <p:txBody>
          <a:bodyPr>
            <a:normAutofit/>
          </a:bodyPr>
          <a:lstStyle/>
          <a:p>
            <a:r>
              <a:rPr lang="en-GB" dirty="0"/>
              <a:t>I</a:t>
            </a:r>
            <a:r>
              <a:rPr lang="en-GB" dirty="0" smtClean="0"/>
              <a:t>mpact of Apple’s ITP on P&amp;O Ferries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573100" y="6712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-181911" y="1519144"/>
          <a:ext cx="4047651" cy="2641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/>
          </p:nvPr>
        </p:nvGraphicFramePr>
        <p:xfrm>
          <a:off x="2265177" y="1519144"/>
          <a:ext cx="3935364" cy="2641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240" y="2121900"/>
            <a:ext cx="6061229" cy="1566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91945" y="1681539"/>
            <a:ext cx="5496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7F7F7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59% Conversions take place within 24hours</a:t>
            </a:r>
            <a:endParaRPr lang="en-US" sz="1600" dirty="0">
              <a:solidFill>
                <a:srgbClr val="7F7F7F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60586" y="5953910"/>
            <a:ext cx="981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Source: Google Analytics</a:t>
            </a:r>
          </a:p>
          <a:p>
            <a:r>
              <a:rPr lang="en-GB" dirty="0" smtClean="0"/>
              <a:t>* Estimation based on 0.23 x (1-0.59) = 0.09 of transactions are likely to be impacted by ITP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8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How Facebook is Measured in DoubleClick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DoubleClick can track Facebook activity outside of app 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P&amp;O Ferries we track impressions in browser on desktop and mobile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means that for 2.9M impressions we only are able to model the effect of 400K impressions (15%)</a:t>
            </a: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defTabSz="9144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Currently there is no way in DCM to track in-app activity, however we are in discussions with Facebook to obtain a better understanding of this activity within DoubleClick</a:t>
            </a:r>
          </a:p>
        </p:txBody>
      </p:sp>
    </p:spTree>
    <p:extLst>
      <p:ext uri="{BB962C8B-B14F-4D97-AF65-F5344CB8AC3E}">
        <p14:creationId xmlns:p14="http://schemas.microsoft.com/office/powerpoint/2010/main" val="187690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53" y="0"/>
            <a:ext cx="9985149" cy="663548"/>
          </a:xfrm>
        </p:spPr>
        <p:txBody>
          <a:bodyPr>
            <a:normAutofit/>
          </a:bodyPr>
          <a:lstStyle/>
          <a:p>
            <a:r>
              <a:rPr lang="en-GB" dirty="0" smtClean="0"/>
              <a:t>Clicks and Impressions Display - </a:t>
            </a:r>
            <a:r>
              <a:rPr lang="en-GB" dirty="0"/>
              <a:t>July 14</a:t>
            </a:r>
            <a:r>
              <a:rPr lang="en-GB" baseline="30000" dirty="0"/>
              <a:t>th</a:t>
            </a:r>
            <a:r>
              <a:rPr lang="en-GB" dirty="0"/>
              <a:t> – December 5</a:t>
            </a:r>
            <a:r>
              <a:rPr lang="en-GB" baseline="30000" dirty="0"/>
              <a:t>th</a:t>
            </a:r>
            <a:r>
              <a:rPr lang="en-GB" dirty="0"/>
              <a:t> 2017</a:t>
            </a:r>
            <a:r>
              <a:rPr lang="en-GB" dirty="0" smtClean="0"/>
              <a:t>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538597"/>
              </p:ext>
            </p:extLst>
          </p:nvPr>
        </p:nvGraphicFramePr>
        <p:xfrm>
          <a:off x="2280058" y="2133596"/>
          <a:ext cx="7628708" cy="3422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7177">
                  <a:extLst>
                    <a:ext uri="{9D8B030D-6E8A-4147-A177-3AD203B41FA5}">
                      <a16:colId xmlns:a16="http://schemas.microsoft.com/office/drawing/2014/main" val="1395704449"/>
                    </a:ext>
                  </a:extLst>
                </a:gridCol>
                <a:gridCol w="1907177">
                  <a:extLst>
                    <a:ext uri="{9D8B030D-6E8A-4147-A177-3AD203B41FA5}">
                      <a16:colId xmlns:a16="http://schemas.microsoft.com/office/drawing/2014/main" val="3241333503"/>
                    </a:ext>
                  </a:extLst>
                </a:gridCol>
                <a:gridCol w="1907177">
                  <a:extLst>
                    <a:ext uri="{9D8B030D-6E8A-4147-A177-3AD203B41FA5}">
                      <a16:colId xmlns:a16="http://schemas.microsoft.com/office/drawing/2014/main" val="824846358"/>
                    </a:ext>
                  </a:extLst>
                </a:gridCol>
                <a:gridCol w="1907177">
                  <a:extLst>
                    <a:ext uri="{9D8B030D-6E8A-4147-A177-3AD203B41FA5}">
                      <a16:colId xmlns:a16="http://schemas.microsoft.com/office/drawing/2014/main" val="1280850161"/>
                    </a:ext>
                  </a:extLst>
                </a:gridCol>
              </a:tblGrid>
              <a:tr h="570412"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329" rtl="0" eaLnBrk="1" latinLnBrk="0" hangingPunct="1">
                        <a:spcAft>
                          <a:spcPts val="0"/>
                        </a:spcAft>
                      </a:pPr>
                      <a:r>
                        <a:rPr lang="en-GB" sz="11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Impressions</a:t>
                      </a:r>
                      <a:endParaRPr lang="en-US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Clicks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Impressions/Clicks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6800240"/>
                  </a:ext>
                </a:extLst>
              </a:tr>
              <a:tr h="5704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11,260,198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5,877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1916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1608861"/>
                  </a:ext>
                </a:extLst>
              </a:tr>
              <a:tr h="5704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14,164,298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12,913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1097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1767164"/>
                  </a:ext>
                </a:extLst>
              </a:tr>
              <a:tr h="5704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14,653546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8,453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1734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5944385"/>
                  </a:ext>
                </a:extLst>
              </a:tr>
              <a:tr h="5704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22,109,057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14,9075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148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6339592"/>
                  </a:ext>
                </a:extLst>
              </a:tr>
              <a:tr h="5704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95,238,462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56,337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1691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202755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434" y="827314"/>
            <a:ext cx="98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 err="1"/>
              <a:t>DISP_P&amp;O_France</a:t>
            </a:r>
            <a:r>
              <a:rPr lang="en-US" dirty="0"/>
              <a:t> Summer Education 2017 does look high.  </a:t>
            </a:r>
            <a:r>
              <a:rPr lang="en-US" dirty="0" smtClean="0"/>
              <a:t>Research showed that </a:t>
            </a:r>
            <a:r>
              <a:rPr lang="en-US" dirty="0"/>
              <a:t>the following two placements with a significantly high click through rate: Lonely Planet </a:t>
            </a:r>
            <a:r>
              <a:rPr lang="en-US" dirty="0" err="1"/>
              <a:t>LExpress_Data</a:t>
            </a:r>
            <a:r>
              <a:rPr lang="en-US" dirty="0"/>
              <a:t> Travelers_RON_1x1 and Lonely Planet </a:t>
            </a:r>
            <a:r>
              <a:rPr lang="en-US" dirty="0" smtClean="0"/>
              <a:t>LExpress_ROS_1x1 could be the reason why – Further investigation is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22502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ublicis Media Template Theme">
      <a:dk1>
        <a:srgbClr val="404040"/>
      </a:dk1>
      <a:lt1>
        <a:srgbClr val="FFFFFF"/>
      </a:lt1>
      <a:dk2>
        <a:srgbClr val="00A3B3"/>
      </a:dk2>
      <a:lt2>
        <a:srgbClr val="0277BF"/>
      </a:lt2>
      <a:accent1>
        <a:srgbClr val="92CF4F"/>
      </a:accent1>
      <a:accent2>
        <a:srgbClr val="FF9B28"/>
      </a:accent2>
      <a:accent3>
        <a:srgbClr val="FEB90B"/>
      </a:accent3>
      <a:accent4>
        <a:srgbClr val="E32456"/>
      </a:accent4>
      <a:accent5>
        <a:srgbClr val="9E1855"/>
      </a:accent5>
      <a:accent6>
        <a:srgbClr val="6D2476"/>
      </a:accent6>
      <a:hlink>
        <a:srgbClr val="B09A5E"/>
      </a:hlink>
      <a:folHlink>
        <a:srgbClr val="53260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04040"/>
        </a:solidFill>
        <a:ln>
          <a:noFill/>
        </a:ln>
      </a:spPr>
      <a:bodyPr rtlCol="0" anchor="ctr"/>
      <a:lstStyle>
        <a:defPPr algn="ctr">
          <a:defRPr sz="1200" smtClean="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mpd="sng">
          <a:solidFill>
            <a:schemeClr val="tx2"/>
          </a:solidFill>
          <a:headEnd type="none" w="med" len="med"/>
          <a:tailEnd type="triangl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Intern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02060"/>
      </a:accent2>
      <a:accent3>
        <a:srgbClr val="93C01F"/>
      </a:accent3>
      <a:accent4>
        <a:srgbClr val="006633"/>
      </a:accent4>
      <a:accent5>
        <a:srgbClr val="F7941E"/>
      </a:accent5>
      <a:accent6>
        <a:srgbClr val="E84E1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efault Theme">
  <a:themeElements>
    <a:clrScheme name="Publicis Media Template Theme">
      <a:dk1>
        <a:srgbClr val="404040"/>
      </a:dk1>
      <a:lt1>
        <a:srgbClr val="FFFFFF"/>
      </a:lt1>
      <a:dk2>
        <a:srgbClr val="00A3B3"/>
      </a:dk2>
      <a:lt2>
        <a:srgbClr val="0277BF"/>
      </a:lt2>
      <a:accent1>
        <a:srgbClr val="92CF4F"/>
      </a:accent1>
      <a:accent2>
        <a:srgbClr val="FF9B28"/>
      </a:accent2>
      <a:accent3>
        <a:srgbClr val="FEB90B"/>
      </a:accent3>
      <a:accent4>
        <a:srgbClr val="E32456"/>
      </a:accent4>
      <a:accent5>
        <a:srgbClr val="9E1855"/>
      </a:accent5>
      <a:accent6>
        <a:srgbClr val="6D2476"/>
      </a:accent6>
      <a:hlink>
        <a:srgbClr val="B09A5E"/>
      </a:hlink>
      <a:folHlink>
        <a:srgbClr val="53260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04040"/>
        </a:solidFill>
        <a:ln>
          <a:noFill/>
        </a:ln>
      </a:spPr>
      <a:bodyPr rtlCol="0" anchor="ctr"/>
      <a:lstStyle>
        <a:defPPr algn="ctr">
          <a:defRPr sz="1200" smtClean="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mpd="sng">
          <a:solidFill>
            <a:schemeClr val="tx2"/>
          </a:solidFill>
          <a:headEnd type="none" w="med" len="med"/>
          <a:tailEnd type="triangl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Intern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02060"/>
      </a:accent2>
      <a:accent3>
        <a:srgbClr val="93C01F"/>
      </a:accent3>
      <a:accent4>
        <a:srgbClr val="006633"/>
      </a:accent4>
      <a:accent5>
        <a:srgbClr val="F7941E"/>
      </a:accent5>
      <a:accent6>
        <a:srgbClr val="E84E1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4756</Words>
  <Application>Microsoft Office PowerPoint</Application>
  <PresentationFormat>Custom</PresentationFormat>
  <Paragraphs>1756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Franklin Gothic Book</vt:lpstr>
      <vt:lpstr>Franklin Gothic Medium</vt:lpstr>
      <vt:lpstr>Times New Roman</vt:lpstr>
      <vt:lpstr>Wingdings</vt:lpstr>
      <vt:lpstr>Default Theme</vt:lpstr>
      <vt:lpstr>2_Custom Design</vt:lpstr>
      <vt:lpstr>1_Default Theme</vt:lpstr>
      <vt:lpstr>3_Custom Design</vt:lpstr>
      <vt:lpstr>P&amp;O Attribution</vt:lpstr>
      <vt:lpstr>Agenda</vt:lpstr>
      <vt:lpstr>Project Scope &amp; Timings</vt:lpstr>
      <vt:lpstr>Project Overview</vt:lpstr>
      <vt:lpstr>Scope</vt:lpstr>
      <vt:lpstr>Project Timings</vt:lpstr>
      <vt:lpstr>Definitions Used in This Presentation</vt:lpstr>
      <vt:lpstr>Quick Reminder of Our Methodology</vt:lpstr>
      <vt:lpstr>Last Click vs MTA</vt:lpstr>
      <vt:lpstr>All Journey's Considered</vt:lpstr>
      <vt:lpstr>Brief Outline Of Our Approach</vt:lpstr>
      <vt:lpstr>Executive Summary</vt:lpstr>
      <vt:lpstr>Executive Summary – Top Line MTA Results</vt:lpstr>
      <vt:lpstr>Executive Summary - Whole Period (July 14th – December 5th 2017)</vt:lpstr>
      <vt:lpstr>Executive Summary – Part Period* (October 13th – December 5th 2017 )</vt:lpstr>
      <vt:lpstr>Potential Savings from MTA Efficiency Gains</vt:lpstr>
      <vt:lpstr>Conversion Journeys</vt:lpstr>
      <vt:lpstr>Most Common Multi-Touchpoint Pathways - July 14th – December 5th 2017 </vt:lpstr>
      <vt:lpstr>Most Common Multi-Touchpoint Pathways - October 13th – December 5th 2017 </vt:lpstr>
      <vt:lpstr>Results</vt:lpstr>
      <vt:lpstr>Total Attribution Results</vt:lpstr>
      <vt:lpstr>Total Attribution Results – Desktop vs Mobile</vt:lpstr>
      <vt:lpstr>MTA vs LTA by Channel and Sub-Channel UK</vt:lpstr>
      <vt:lpstr>MTA vs LTA by Channel and Sub-Channel France</vt:lpstr>
      <vt:lpstr>MTA vs LTA by Channel and Sub-Channel Germany</vt:lpstr>
      <vt:lpstr>MTA vs LTA by Channel and Sub-Channel Netherlands</vt:lpstr>
      <vt:lpstr>MTA vs LTA by Channel and Sub-Channel Belgium</vt:lpstr>
      <vt:lpstr>Results Deep Dive</vt:lpstr>
      <vt:lpstr>LTA vs MTA by Route and Channel UK </vt:lpstr>
      <vt:lpstr>Display– TOP 20 Placements</vt:lpstr>
      <vt:lpstr>Paid Search – Generic Level TOP 20 Keywords UK</vt:lpstr>
      <vt:lpstr>Paid Search – Brand Level TOP 20 Keywords UK</vt:lpstr>
      <vt:lpstr>Affiliate– TOP 20 Sites UK</vt:lpstr>
      <vt:lpstr>‘Optimum’ Demo</vt:lpstr>
      <vt:lpstr>Optimum Dashboard</vt:lpstr>
      <vt:lpstr>Next Steps</vt:lpstr>
      <vt:lpstr>Next Steps</vt:lpstr>
      <vt:lpstr>Thank You</vt:lpstr>
      <vt:lpstr>Appendix</vt:lpstr>
      <vt:lpstr>Views on Apple’s Intelligent Tracking Prevention (ITP)</vt:lpstr>
      <vt:lpstr>Impact of Apple’s ITP on P&amp;O Ferries</vt:lpstr>
      <vt:lpstr>How Facebook is Measured in DoubleClick</vt:lpstr>
      <vt:lpstr>Clicks and Impressions Display - July 14th – December 5th 2017 </vt:lpstr>
    </vt:vector>
  </TitlesOfParts>
  <Manager/>
  <Company>Publicis Media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Publicis Media Presentation Template</dc:title>
  <dc:subject/>
  <dc:creator>bdamiano</dc:creator>
  <cp:keywords/>
  <dc:description/>
  <cp:lastModifiedBy>Ruizhe Li</cp:lastModifiedBy>
  <cp:revision>6947</cp:revision>
  <cp:lastPrinted>2017-12-14T22:44:06Z</cp:lastPrinted>
  <dcterms:created xsi:type="dcterms:W3CDTF">2014-11-12T21:47:38Z</dcterms:created>
  <dcterms:modified xsi:type="dcterms:W3CDTF">2018-07-09T10:02:48Z</dcterms:modified>
  <cp:category/>
</cp:coreProperties>
</file>